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1위 적중</c:v>
                </c:pt>
              </c:strCache>
            </c:strRef>
          </c:tx>
          <c:dPt>
            <c:idx val="0"/>
            <c:spPr>
              <a:solidFill>
                <a:srgbClr val="6B7692"/>
              </a:solidFill>
            </c:spPr>
          </c:dPt>
          <c:dPt>
            <c:idx val="1"/>
            <c:spPr>
              <a:solidFill>
                <a:srgbClr val="8FA8E8"/>
              </a:solidFill>
            </c:spPr>
          </c:dPt>
          <c:dPt>
            <c:idx val="2"/>
            <c:spPr>
              <a:solidFill>
                <a:srgbClr val="2457D6"/>
              </a:solidFill>
            </c:spPr>
          </c:dPt>
          <c:cat>
            <c:strRef>
              <c:f>Sheet1!$A$2:$A$4</c:f>
              <c:strCache>
                <c:ptCount val="3"/>
                <c:pt idx="0">
                  <c:v>A 키워드</c:v>
                </c:pt>
                <c:pt idx="1">
                  <c:v>B Hybrid</c:v>
                </c:pt>
                <c:pt idx="2">
                  <c:v>C Agent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</c:v>
                </c:pt>
                <c:pt idx="1">
                  <c:v>15</c:v>
                </c:pt>
                <c:pt idx="2">
                  <c:v>16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800" b="1"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0E0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.0"/>
          <c:min val="0.0"/>
        </c:scaling>
        <c:delete val="0"/>
        <c:axPos val="l"/>
        <c:majorGridlines>
          <c:spPr>
            <a:ln>
              <a:solidFill>
                <a:srgbClr val="E3E7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solidFill>
                  <a:srgbClr val="5B6577"/>
                </a:solidFill>
              </a:defRPr>
            </a:pPr>
          </a:p>
        </c:txPr>
        <c:crossAx val="-2068027336"/>
        <c:crosses val="autoZero"/>
        <c:majorUnit val="6.0"/>
      </c:valAx>
    </c:plotArea>
    <c:dispBlanksAs val="gap"/>
  </c:chart>
  <c:txPr>
    <a:bodyPr/>
    <a:lstStyle/>
    <a:p>
      <a:pPr>
        <a:defRPr sz="1400">
          <a:latin typeface="Malgun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737360"/>
            <a:ext cx="99669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2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017520"/>
            <a:ext cx="9966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기억 속 장면을 찾아 주는</a:t>
            </a:r>
          </a:p>
          <a:p>
            <a:pPr algn="l"/>
            <a:r>
              <a:rPr sz="3200" b="1">
                <a:solidFill>
                  <a:srgbClr val="2457D6"/>
                </a:solidFill>
                <a:latin typeface="Malgun Gothic"/>
                <a:ea typeface="Malgun Gothic"/>
                <a:cs typeface="Malgun Gothic"/>
              </a:rPr>
              <a:t>근거 기반 AI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572000"/>
            <a:ext cx="4206240" cy="603504"/>
          </a:xfrm>
          <a:prstGeom prst="roundRect">
            <a:avLst>
              <a:gd name="adj" fmla="val 30000"/>
            </a:avLst>
          </a:prstGeom>
          <a:solidFill>
            <a:srgbClr val="24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2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광주 3반  G078  문희주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9496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AI 서비스 Mini Project  ·  과제 2 (신규 Agent)  ·  첫 적용 대상: NCT WISH 영상 3편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장면을 설명하면, 원본 자막으로 검증한 시점을 찾아 준다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5760720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188720"/>
                <a:gridCol w="4572000"/>
              </a:tblGrid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제목도 대사도 모르고 "그 장면"만 기억난다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검색 → 원본 cue 대조 → 의미 판정</a:t>
                      </a:r>
                      <a:br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→ 영상 시점과 앞뒤 자막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제약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자막은 영어 번역본이고 화자 표시가 없어,</a:t>
                      </a:r>
                      <a:br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화자는 단정하지 않는다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03_result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417320"/>
            <a:ext cx="5120640" cy="3200400"/>
          </a:xfrm>
          <a:prstGeom prst="rect">
            <a:avLst/>
          </a:prstGeom>
          <a:ln w="12700">
            <a:solidFill>
              <a:srgbClr val="D5DBE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583680" y="461772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결과 화면: 검증된 장면 카드, 영상, 원본 앞뒤 자막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720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세부 task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983480"/>
          <a:ext cx="11155680" cy="10058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28800"/>
                <a:gridCol w="1865376"/>
                <a:gridCol w="1865376"/>
                <a:gridCol w="1865376"/>
                <a:gridCol w="1865376"/>
                <a:gridCol w="1865376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파싱·청킹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Hybrid 검색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LangGraph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MCP 서버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API·Vue·SSE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평가·추적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cue 3,750 → 청크 869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BM25 + bge-m3, RRF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6개 노드, 재검색 ≤ 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읽기 전용 도구 4개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진행 단계 실시간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A/B/C 20문항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결과: 16/18을 맞혔고, 근거 없는 화자 단정은 0건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A / B / C 1위 적중 수 (18문항 중)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737360"/>
          <a:ext cx="521208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52628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A 키워드 · B Hybrid(키워드+의미) · C Agent(Hybrid+검증·재검색)</a:t>
            </a:r>
          </a:p>
          <a:p>
            <a:pPr algn="l"/>
            <a:r>
              <a:rPr sz="12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같은 영어 검색어 조건 · 1~3문항 차이, 1회 실행이라 우위 단정 안 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3716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개선 전/후 (OpenAI, 같은 평가셋)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783080"/>
          <a:ext cx="5623560" cy="28803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697480"/>
                <a:gridCol w="914400"/>
                <a:gridCol w="91440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v3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변화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1위 적중 (18문항)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같음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화자 질문 처리 (4문항)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LLM 호출 (20문항)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−16%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평균 지연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2.88초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2.57초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−11%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 토큰 (C+C-ko)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56,941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70,770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+24%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틀린 장면을 "찾음"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0건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1건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35040" y="4681728"/>
            <a:ext cx="5623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v3 개선: 화자 질문 판정 기준 · 번역 자막 대응 · 중복 재검색 제거 · 검색어 재작성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230368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248656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2457D6"/>
                </a:solidFill>
                <a:latin typeface="Malgun Gothic"/>
                <a:ea typeface="Malgun Gothic"/>
                <a:cs typeface="Malgun Gothic"/>
              </a:rPr>
              <a:t>0건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632704"/>
            <a:ext cx="2423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근거 없이 화자를 단정한 경우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5230368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8" y="5248656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2457D6"/>
                </a:solidFill>
                <a:latin typeface="Malgun Gothic"/>
                <a:ea typeface="Malgun Gothic"/>
                <a:cs typeface="Malgun Gothic"/>
              </a:rPr>
              <a:t>16 → 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5632704"/>
            <a:ext cx="2423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이중 첫 검색을 켜도 결과 같음.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검색만 80 → 98회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기본 꺼짐으로 설정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5" y="5230368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5248656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2457D6"/>
                </a:solidFill>
                <a:latin typeface="Malgun Gothic"/>
                <a:ea typeface="Malgun Gothic"/>
                <a:cs typeface="Malgun Gothic"/>
              </a:rPr>
              <a:t>20초/10초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5632704"/>
            <a:ext cx="2423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청크 길이 비교 후 유지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1위 적중: 10/5=11 · 20/10=11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30/15=9 · 40/20=5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5230368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7424" y="5248656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한계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5632704"/>
            <a:ext cx="2423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후속 질문·번역 어휘 차이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Multi-Agent 미구현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LangGraph · MCP · RAG를 하나의 흐름으로 엮었다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766560" cy="347926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06640" y="1463040"/>
          <a:ext cx="4343400" cy="453542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17320"/>
                <a:gridCol w="292608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구성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LangGraph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 · 검색 · 검증 · 재검색 흐름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MCP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공식 SDK 2.x, 로컬 stdio, 읽기 전용 도구 4개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RAG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BM25 + bge-m3 + RRF, 원본 cue 근거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의존성 주입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생성자 주입, LLM을 환경변수로 교체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LangSmith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노드·LLM 호출·토큰 추적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모듈화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 · mcp · retrieval · services 분리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테스트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백엔드 178개 · 프런트 43개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Agent Graph: 경로는 코드가, 판단은 LLM이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pic>
        <p:nvPicPr>
          <p:cNvPr id="5" name="Picture 4" descr="langgrap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5577840" cy="2109568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657600"/>
          <a:ext cx="5577840" cy="263347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77440"/>
                <a:gridCol w="3200400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설계 원칙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다음 노드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 함수가 정한다 (add_conditional_edges)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LLM 판단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 · 판정 · 검색어 재작성, 세 곳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인용·시각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코드가 원본 cue에서 생성, LLM은 쓰지 않음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단일 Agent 워크플로 (Multi-Agent 미구현)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재검색 2번 · LLM 20초 · 전체 60초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263640" y="1371600"/>
            <a:ext cx="5486400" cy="466344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536192"/>
            <a:ext cx="5120640" cy="4334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graph = StateGraph(FinderState)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for name in ['router', 'search', 'context',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'verification', 'replan', 'finalize']: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graph.add_node(name, self._node(name))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graph.add_conditional_edges('router',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lambda s: 'finalize' if s['intent'] in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{'unsupported', 'chat'} else 'search')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graph.add_conditional_edges('verification',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           self._after_verification)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graph.add_conditional_edges('replan',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lambda s: 'finalize' if s.get('stop_replan')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else 'search')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def _after_verification(self, state):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return 'replan' if state.get('can_replan') \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       else 'finalize'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MAX_REPLAN_ROUNDS =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608990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backend/app/agent/graph.py (발췌, 줄 바꿈만 조정)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MCP: 자막은 도구로만 접근하고, 검증은 원본 cue로 다시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5669280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651760"/>
                <a:gridCol w="301752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도구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쓰는 곳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search_transcripts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 · 검색 단계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get_scene_context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 · 원본 대조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get_video_metadata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API 서버 · 시작 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get_cue_neighbors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화면 · 앞뒤 자막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4251960"/>
          <a:ext cx="5669280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77440"/>
                <a:gridCol w="32918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원칙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공식 MCP SDK 2.x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로컬 프로세스, stdio 통신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읽기 전용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파일 경로를 인자로 받지 않는다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검색 결과를 믿지 않는다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인용·시각은 원본 cue로 다시 확인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46520" y="1371600"/>
            <a:ext cx="5303520" cy="466344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536192"/>
            <a:ext cx="4937759" cy="4334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@server.tool(structured_output=True)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def search_transcripts(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query: str, mode='hybrid',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top_k=3, video_ids=None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) -&gt; SearchReply: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"""Search registered transcripts.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Returns cue-linked candidates,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not answers."""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with search_gate.acquire():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_, retriever = resources()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return retriever.search(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query, mode, top_k, video_ids)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FA1C7"/>
                </a:solidFill>
                <a:latin typeface="Consolas"/>
                <a:ea typeface="Consolas"/>
                <a:cs typeface="Consolas"/>
              </a:rPr>
              <a:t># Agent verifies each candidate by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FA1C7"/>
                </a:solidFill>
                <a:latin typeface="Consolas"/>
                <a:ea typeface="Consolas"/>
                <a:cs typeface="Consolas"/>
              </a:rPr>
              <a:t># re-reading the source cues: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@server.tool(structured_output=True)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def get_scene_context(video_id,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start_seconds, window_seconds=20)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-&gt; ContextReply: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6089903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backend/app/mcp/server.py (발췌, 타입 표기 단순화)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RAG: 두 검색을 RRF로 합치고 원본 cue로 되돌린다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94960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5875">
            <a:solidFill>
              <a:srgbClr val="6B76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자막 cue 3,750줄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08483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B7692"/>
                </a:solidFill>
                <a:latin typeface="Malgun Gothic"/>
                <a:ea typeface="Malgun Gothic"/>
                <a:cs typeface="Malgun Gothic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5394960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5875">
            <a:solidFill>
              <a:srgbClr val="2457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59152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청크 869개  (20초 단위, 10초 겹침)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98094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B7692"/>
                </a:solidFill>
                <a:latin typeface="Malgun Gothic"/>
                <a:ea typeface="Malgun Gothic"/>
                <a:cs typeface="Malgun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5394960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5875">
            <a:solidFill>
              <a:srgbClr val="2457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55264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BM25 상위 20  +  bge-m3 상위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87705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B7692"/>
                </a:solidFill>
                <a:latin typeface="Malgun Gothic"/>
                <a:ea typeface="Malgun Gothic"/>
                <a:cs typeface="Malgun Gothic"/>
              </a:rPr>
              <a:t>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5394960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5875">
            <a:solidFill>
              <a:srgbClr val="B977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51376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RRF로 순위 합치기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77316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B7692"/>
                </a:solidFill>
                <a:latin typeface="Malgun Gothic"/>
                <a:ea typeface="Malgun Gothic"/>
                <a:cs typeface="Malgun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5394960" cy="6400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 w="15875">
            <a:solidFill>
              <a:srgbClr val="2457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47488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원본 cue로 되돌리기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371600"/>
            <a:ext cx="5486400" cy="324612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536192"/>
            <a:ext cx="5120640" cy="2916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fused = {}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for rank in ranks:   # BM25 list, dense list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for position, i in enumerate(rank, 1):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    fused[i] = fused.get(i, 0) \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               + 1 / (60 + position)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for i in sorted(fused,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key=lambda i: (-fused[i], i)):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chunk = self.chunks[i]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...  # near-duplicate chunks removed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candidate = Candidate(chunk=chunk,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         score=fused[i])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67258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backend/app/retrieval/hybrid.py (발췌, 줄 바꿈만 조정)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502920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5074920"/>
            <a:ext cx="50292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점수 = Σ  1 / (60 + 순위)</a:t>
            </a:r>
          </a:p>
          <a:p>
            <a:pPr algn="l"/>
            <a:r>
              <a:rPr sz="13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청크 길이 비교(B, 18문항): 10/5=11 · 20/10=11 · 30/15=9 · 40/20=5 → 20/10 유지. 60은 미비교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[백업] LangSmith로 노드별 시간·LLM 호출·토큰을 추적했다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pic>
        <p:nvPicPr>
          <p:cNvPr id="5" name="Picture 4" descr="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760720" cy="2333456"/>
          </a:xfrm>
          <a:prstGeom prst="rect">
            <a:avLst/>
          </a:prstGeom>
          <a:ln w="12700">
            <a:solidFill>
              <a:srgbClr val="D5DBE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57200" y="3931920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평가 2회 합계: 트레이스 160 · 모델 호출 188 · 토큰 135.5K · 비용 $0.30 (LangSmith 계산값)</a:t>
            </a:r>
          </a:p>
        </p:txBody>
      </p:sp>
      <p:pic>
        <p:nvPicPr>
          <p:cNvPr id="7" name="Picture 6" descr="02_trace_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71600"/>
            <a:ext cx="2743200" cy="1865539"/>
          </a:xfrm>
          <a:prstGeom prst="rect">
            <a:avLst/>
          </a:prstGeom>
          <a:ln w="12700">
            <a:solidFill>
              <a:srgbClr val="D5DBEA"/>
            </a:solidFill>
          </a:ln>
        </p:spPr>
      </p:pic>
      <p:pic>
        <p:nvPicPr>
          <p:cNvPr id="8" name="Picture 7" descr="03_trace_rep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1371600"/>
            <a:ext cx="2118963" cy="3566160"/>
          </a:xfrm>
          <a:prstGeom prst="rect">
            <a:avLst/>
          </a:prstGeom>
          <a:ln w="12700">
            <a:solidFill>
              <a:srgbClr val="D5DBE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46520" y="512064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왼쪽: 재검색 없는 건 2.01초 · LLM 2회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오른쪽: 재검색 1번 건 4.28초 · LLM 4회</a:t>
            </a:r>
          </a:p>
          <a:p>
            <a:pPr algn="l"/>
            <a:r>
              <a:rPr sz="13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MCP 도구 호출은 LangSmith에 따로 잡히지 않는다 (한계)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[백업] 의존성 주입과 테스트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760720" cy="3200400"/>
          </a:xfrm>
          <a:prstGeom prst="roundRect">
            <a:avLst>
              <a:gd name="adj" fmla="val 25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36192"/>
            <a:ext cx="5394959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class FinderAgent: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def __init__(self, session, metadata, model, *,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mode='hybrid',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tool_call=call_tool,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timeout=60,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telemetry=None,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                dual_query=False, ...):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    self.session = session   # MCP session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9DB7FF"/>
                </a:solidFill>
                <a:latin typeface="Consolas"/>
                <a:ea typeface="Consolas"/>
                <a:cs typeface="Consolas"/>
              </a:rPr>
              <a:t>        self.model = model       # Ollama | OpenAI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E6E9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FA1C7"/>
                </a:solidFill>
                <a:latin typeface="Consolas"/>
                <a:ea typeface="Consolas"/>
                <a:cs typeface="Consolas"/>
              </a:rPr>
              <a:t># production: real session + build_model()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FA1C7"/>
                </a:solidFill>
                <a:latin typeface="Consolas"/>
                <a:ea typeface="Consolas"/>
                <a:cs typeface="Consolas"/>
              </a:rPr>
              <a:t># tests: FakeSession + ScriptedModel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26864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backend/app/agent/graph.py (발췌)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5760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LLM 교체: WISH_LLM_BACKEND 환경변수 하나</a:t>
            </a:r>
          </a:p>
          <a:p>
            <a:pPr algn="l"/>
            <a:r>
              <a:rPr sz="14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Ollama(개발) ↔ OpenAI(제출), 나머지 코드는 그대로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0" y="1417320"/>
          <a:ext cx="5120640" cy="32004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5661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백엔드 테스트 영역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개수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 그래프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55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LLM 교체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19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자막·검색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37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설정·API·실시간 전송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33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평가 도구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MCP 통신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0" y="475488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백엔드 178개 통과 · 프런트 43개 통과</a:t>
            </a:r>
          </a:p>
          <a:p>
            <a:pPr algn="l"/>
            <a:r>
              <a:rPr sz="1300" b="0">
                <a:solidFill>
                  <a:srgbClr val="5B6577"/>
                </a:solidFill>
                <a:latin typeface="Malgun Gothic"/>
                <a:ea typeface="Malgun Gothic"/>
                <a:cs typeface="Malgun Gothic"/>
              </a:rPr>
              <a:t>모델은 가짜로 대신해 과금 없음, 실제 stdio MCP 서버 테스트 포함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[백업] 이중 첫 검색: 번역 어휘 차이를 질문 원문 검색으로 보완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645920"/>
            <a:ext cx="914400" cy="411480"/>
          </a:xfrm>
          <a:prstGeom prst="roundRect">
            <a:avLst>
              <a:gd name="adj" fmla="val 30000"/>
            </a:avLst>
          </a:prstGeom>
          <a:solidFill>
            <a:srgbClr val="24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Router 검색어: "manitto"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자막: "Secret Santa"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→ 같은 의미인데 못 찾음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46304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26279" y="1645920"/>
            <a:ext cx="914400" cy="411480"/>
          </a:xfrm>
          <a:prstGeom prst="roundRect">
            <a:avLst>
              <a:gd name="adj" fmla="val 30000"/>
            </a:avLst>
          </a:prstGeom>
          <a:solidFill>
            <a:srgbClr val="24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79" y="224028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Router 검색어 + 질문 원문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두 검색을 함께 실행하고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순위를 번갈아 채워 후보 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146304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75319" y="1645920"/>
            <a:ext cx="914400" cy="411480"/>
          </a:xfrm>
          <a:prstGeom prst="roundRect">
            <a:avLst>
              <a:gd name="adj" fmla="val 30000"/>
            </a:avLst>
          </a:prstGeom>
          <a:solidFill>
            <a:srgbClr val="24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24028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마니또: 못 찾음 → 찾음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대가: 질문당 약 1~2초 증가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평가셋 20문항: 16 → 16, 이득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11064240" cy="15544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572000"/>
            <a:ext cx="10515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구현 중에 발견한 성능 저하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코드 리뷰 반영 중 점수 합산 방식으로 바꿨더니 단위 테스트는 통과했지만 실제 자막에서 정답이 후보 3개 밖으로 밀렸다 ("구운 오징어": 45:53 → 42:41). 원인을 확인하고 순위를 번갈아 채우는 방식으로 고쳐 테스트로 고정했다.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[백업] 기술 요소 정리와 Multi-Agent를 쓰지 않은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광주 3반 G078 문희주  ·  WISH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2823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8A93A8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6400800" cy="409651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737360"/>
                <a:gridCol w="466344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기술 요소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 프로젝트에서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Multi-Agent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미구현 (단일 Agent 워크플로)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E8EE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MCP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공식 SDK 2.x, 도구 4개, stdio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RAG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BM25 + bge-m3 + RRF, 원본 cue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의존성 주입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생성자 주입, LLM 환경변수 교체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LangSmith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노드·LLM 호출·토큰 추적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모듈화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 / mcp / retrieval / services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단위 테스트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B243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백엔드 178 · 프런트 43</a:t>
                      </a:r>
                    </a:p>
                  </a:txBody>
                  <a:tcPr marL="91440" marR="91440" marT="36576" marB="36576" anchor="ctr">
                    <a:lnB w="9525">
                      <a:solidFill>
                        <a:srgbClr val="DDE2E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223760" y="1417320"/>
            <a:ext cx="4480560" cy="41148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554480"/>
            <a:ext cx="402336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Multi-Agent를 쓰지 않은 이유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일이 순서대로 짧고 병렬로 할 일이 없다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Supervisor는 LLM 호출·지연·실패 지점을 늘린다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실제 원인은 구조가 아니라 어휘였다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설계안 (구현·측정하지 않음)</a:t>
            </a:r>
          </a:p>
          <a:p>
            <a:pPr algn="l"/>
            <a:r>
              <a:rPr sz="1400" b="0">
                <a:solidFill>
                  <a:srgbClr val="1B2437"/>
                </a:solidFill>
                <a:latin typeface="Malgun Gothic"/>
                <a:ea typeface="Malgun Gothic"/>
                <a:cs typeface="Malgun Gothic"/>
              </a:rPr>
              <a:t>Supervisor가 Agent를 고르고, Search Agent가 도구를 스스로 고르며, Verifier Agent는 판정만 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