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1위 적중</c:v>
                </c:pt>
              </c:strCache>
            </c:strRef>
          </c:tx>
          <c:dPt>
            <c:idx val="0"/>
            <c:spPr>
              <a:solidFill>
                <a:srgbClr val="6B7692"/>
              </a:solidFill>
            </c:spPr>
          </c:dPt>
          <c:dPt>
            <c:idx val="1"/>
            <c:spPr>
              <a:solidFill>
                <a:srgbClr val="8FA8E8"/>
              </a:solidFill>
            </c:spPr>
          </c:dPt>
          <c:dPt>
            <c:idx val="2"/>
            <c:spPr>
              <a:solidFill>
                <a:srgbClr val="2457D6"/>
              </a:solidFill>
            </c:spPr>
          </c:dPt>
          <c:cat>
            <c:strRef>
              <c:f>Sheet1!$A$2:$A$4</c:f>
              <c:strCache>
                <c:ptCount val="3"/>
                <c:pt idx="0">
                  <c:v>A 키워드</c:v>
                </c:pt>
                <c:pt idx="1">
                  <c:v>B Hybrid</c:v>
                </c:pt>
                <c:pt idx="2">
                  <c:v>C Agent</c:v>
                </c:pt>
              </c:strCache>
            </c:strRef>
          </c:cat>
          <c:val>
            <c:numRef>
              <c:f>Sheet1!$B$2:$B$4</c:f>
              <c:numCache>
                <c:formatCode>General</c:formatCode>
                <c:ptCount val="3"/>
                <c:pt idx="0">
                  <c:v>13</c:v>
                </c:pt>
                <c:pt idx="1">
                  <c:v>15</c:v>
                </c:pt>
                <c:pt idx="2">
                  <c:v>16</c:v>
                </c:pt>
              </c:numCache>
            </c:numRef>
          </c:val>
        </c:ser>
        <c:dLbls>
          <c:numFmt formatCode="0" sourceLinked="0"/>
          <c:txPr>
            <a:bodyPr/>
            <a:lstStyle/>
            <a:p>
              <a:pPr>
                <a:defRPr sz="1800" b="1">
                  <a:latin typeface="Malgun Gothic"/>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D0E0"/>
            </a:solidFill>
          </a:ln>
        </c:spPr>
        <c:txPr>
          <a:bodyPr/>
          <a:lstStyle/>
          <a:p>
            <a:pPr>
              <a:defRPr sz="1400"/>
            </a:pPr>
          </a:p>
        </c:txPr>
        <c:crossAx val="-2113994440"/>
        <c:crosses val="autoZero"/>
        <c:auto val="1"/>
        <c:lblAlgn val="ctr"/>
        <c:lblOffset val="100"/>
        <c:noMultiLvlLbl val="0"/>
      </c:catAx>
      <c:valAx>
        <c:axId val="-2113994440"/>
        <c:scaling>
          <c:max val="18.0"/>
          <c:min val="0.0"/>
        </c:scaling>
        <c:delete val="0"/>
        <c:axPos val="l"/>
        <c:majorGridlines>
          <c:spPr>
            <a:ln>
              <a:solidFill>
                <a:srgbClr val="E3E7F1"/>
              </a:solidFill>
            </a:ln>
          </c:spPr>
        </c:majorGridlines>
        <c:majorTickMark val="out"/>
        <c:minorTickMark val="none"/>
        <c:tickLblPos val="nextTo"/>
        <c:spPr>
          <a:ln>
            <a:noFill/>
          </a:ln>
        </c:spPr>
        <c:txPr>
          <a:bodyPr/>
          <a:lstStyle/>
          <a:p>
            <a:pPr>
              <a:defRPr sz="1300">
                <a:solidFill>
                  <a:srgbClr val="5B6577"/>
                </a:solidFill>
              </a:defRPr>
            </a:pPr>
          </a:p>
        </c:txPr>
        <c:crossAx val="-2068027336"/>
        <c:crosses val="autoZero"/>
        <c:majorUnit val="6.0"/>
      </c:valAx>
    </c:plotArea>
    <c:dispBlanksAs val="gap"/>
  </c:chart>
  <c:txPr>
    <a:bodyPr/>
    <a:lstStyle/>
    <a:p>
      <a:pPr>
        <a:defRPr sz="1400">
          <a:latin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[10초] 안녕하세요, G078 문희주입니다. 제 과제는 WISH FINDER입니다. 영상 속 장면이 어렴풋이만 기억날 때, 그 장면을 설명하면 영상의 정확한 시점을 찾아 주는 AI Agent입니다.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 팬들은 "마니또를 뽑다가 자기 자신을 뽑은 장면"처럼 상황만 기억하고 제목이나 대사는 모릅니다. 그래서 장면을 한국어로 설명하면 자막에서 후보를 찾고, 원본 자막과 다시 대조해 검증한 영상 시점을 알려 주는 Agent를 만들었습니다. 세부 task는 자막 파싱과 청킹, 하이브리드 검색, LangGraph Agent, MCP 서버, 웹 화면과 실시간 전송, 평가와 추적입니다. 자막이 영어 번역본이고 화자 표시가 없어서 화자는 단정하지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[65초] 결과입니다. 같은 20문항 평가셋으로 Agent는 장면 질문 18개 중 16개를 1위로 맞혔고, 일반 검색은 11에서 15개였습니다. 차이가 1에서 5문항이고 한 번만 실행해서 우위는 단정하지 않습니다. 개선 전후로는 화자 질문 처리가 2개에서 3개로 늘고 LLM 호출이 16% 줄었지만 입력 토큰은 24% 늘었습니다. 근거 없이 화자를 단정한 경우는 0건이었습니다. 오늘 다시 측정한 이중 첫 검색은 켜도 16으로 같고 검색만 늘어 꺼 두었고, 청크는 20초와 10초를 유지했습니다. 한계는 후속 질문과 번역 어휘 차이, 그리고 Multi-Agent를 구현하지 않은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[15초] 전체 구조입니다. 화면의 질문은 FastAPI를 거쳐 LangGraph Agent로 가고, Agent는 MCP 서버를 통해서만 자막을 조회합니다. 이제 핵심 코드 세 가지, Agent Graph와 MCP, RAG를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[65초] Agent Graph입니다. 코드를 보면 StateGraph에 분류, 검색, 원본 대조, 판정, 재검색, 정리 여섯 노드를 add_node로 등록합니다. 다음 노드는 add_conditional_edges의 조건 함수가 정합니다. 분류에서 자막으로 알 수 없는 요청이면 곧바로 정리로 가고, 판정에서 관련 후보가 없고 시간이 남아 있을 때만 재검색으로 갑니다. MAX_REPLAN_ROUNDS가 2라서 재검색은 최대 두 번입니다. LLM이 판단하는 곳은 분류, 판정, 검색어 재작성 세 군데뿐이고, 인용과 시각은 코드가 원본 cue에서 만듭니다. Multi-Agent가 아닌 단일 워크플로입니다.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[50초] MCP입니다. 공식 SDK 2.x의 MCPServer에서 server.tool 데코레이터로 읽기 전용 도구 네 개를 만들고, 로컬 프로세스로 띄워 stdio로 통신합니다. Agent는 검색과 원본 조회 두 개를 쓰고, 나머지 두 개는 화면용입니다. 핵심은 검색 결과를 그대로 믿지 않는 것입니다. search_transcripts가 준 청크는 가공된 텍스트라서, 인용과 시각은 get_scene_context가 돌려주는 원본 cue로 다시 확인합니다. 검색은 계산이 무거워 동시에 한 건만 실행하도록 제한했습니다.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[55초] RAG입니다. 자막 3,750줄을 영상별로 20초씩, 10초 겹치게 묶어 청크 869개를 만들었습니다. 키워드 검색 상위 20개와 의미 검색 상위 20개를 RRF로 합치는데, 순위가 r인 후보에 1 나누기 60 더하기 r 점수를 주고 더합니다. 청크는 cue 번호를 가지고 있어 결과가 항상 원본 자막 줄로 돌아갑니다. 청크 길이는 10초 5초, 30초 15초, 40초 20초와도 비교했고 20초 10초를 유지했습니다. 가장 크게 배운 것은 문제가 구조보다 번역 자막의 단어 같은 데이터에 있었다는 점입니다.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질문 대비: 한계와 측정 결과. 한계는 세 가지입니다. Agent 우위는 우연일 수 있고, 지연과 토큰이 늘었으며, 후속 질문이나 번역 어휘 차이에서 틀리거나 못 찾는 경우가 있습니다. 측정도 두 가지 마쳤습니다. 청크 길이는 20초와 10초를 유지했고, 이중 첫 검색은 16에서 16으로 이득이 없어 기본값을 끈 채 두었습니다. 이후에는 서비스가 여러 장면을 연결해 조사하는 형태로 커질 때 Supervisor 구조를 비교하려고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질문 대비: LangSmith 추적. 평가 두 번의 합계가 트레이스 160개, 모델 호출 188회, 토큰 135.5K, 비용 $0.30입니다. 재검색이 있으면 지연·LLM 호출·토큰이 대략 두 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질문 대비: 의존성 주입과 테스트. FinderAgent는 모든 의존성을 생성자로 받고 테스트에서는 가짜 모델과 가짜 연결을 넣습니다. 모델 호출을 가짜로 대신해 과금이 없고 결과가 항상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질문 대비: 이중 첫 검색. Router 검색어가 번역 어휘와 달라 못 찾던 질문을, 질문 원문도 함께 검색해 보완한 시도입니다. 구현 중 점수 합산 방식에서 정답이 밀리는 문제를 실제 자막으로 확인해 순위 교차 방식으로 바꿨습니다. 정답 평가셋 20문항으로 끈 실행과 켠 실행을 다시 측정했더니 1위 적중이 둘 다 16개로 같았고, 못 찾은 두 문항도 그대로였습니다. 검색만 80회에서 98회로 늘었고 LLM 호출과 토큰은 같아서 기본값은 꺼 두었습니다. 마니또처럼 못 찾던 질문이 찾아진 것은 평가셋 밖 직접 실행에서만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질문 대비: 기술 요소와 Multi-Agent. Multi-Agent는 호출·지연·실패 지점이 늘고 실제 원인이 구조가 아니라 어휘였기 때문에 구현하지 않았습니다. 설계안은 Supervisor, Search Agent, Verifier Agent의 허브-스포크 구조입니다.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3" name="TextBox 2"/>
          <p:cNvSpPr txBox="1"/>
          <p:nvPr/>
        </p:nvSpPr>
        <p:spPr>
          <a:xfrm>
            <a:off x="731520" y="1554480"/>
            <a:ext cx="6217920" cy="1097280"/>
          </a:xfrm>
          <a:prstGeom prst="rect">
            <a:avLst/>
          </a:prstGeom>
          <a:noFill/>
        </p:spPr>
        <p:txBody>
          <a:bodyPr wrap="square" anchor="ctr" lIns="0" rIns="0" tIns="0" bIns="0">
            <a:spAutoFit/>
          </a:bodyPr>
          <a:lstStyle/>
          <a:p>
            <a:pPr algn="l"/>
            <a:r>
              <a:rPr sz="6000" b="1">
                <a:solidFill>
                  <a:srgbClr val="1B2437"/>
                </a:solidFill>
                <a:latin typeface="Malgun Gothic"/>
                <a:ea typeface="Malgun Gothic"/>
                <a:cs typeface="Malgun Gothic"/>
              </a:rPr>
              <a:t>WISH FINDER</a:t>
            </a:r>
          </a:p>
        </p:txBody>
      </p:sp>
      <p:sp>
        <p:nvSpPr>
          <p:cNvPr id="4" name="TextBox 3"/>
          <p:cNvSpPr txBox="1"/>
          <p:nvPr/>
        </p:nvSpPr>
        <p:spPr>
          <a:xfrm>
            <a:off x="731520" y="2743200"/>
            <a:ext cx="6035040" cy="1280160"/>
          </a:xfrm>
          <a:prstGeom prst="rect">
            <a:avLst/>
          </a:prstGeom>
          <a:noFill/>
        </p:spPr>
        <p:txBody>
          <a:bodyPr wrap="square" anchor="t" lIns="0" rIns="0" tIns="0" bIns="0">
            <a:spAutoFit/>
          </a:bodyPr>
          <a:lstStyle/>
          <a:p>
            <a:pPr algn="l">
              <a:spcAft>
                <a:spcPts val="200"/>
              </a:spcAft>
            </a:pPr>
            <a:r>
              <a:rPr sz="2800" b="0">
                <a:solidFill>
                  <a:srgbClr val="5B6577"/>
                </a:solidFill>
                <a:latin typeface="Malgun Gothic"/>
                <a:ea typeface="Malgun Gothic"/>
                <a:cs typeface="Malgun Gothic"/>
              </a:rPr>
              <a:t>기억 속 장면을 찾아 주는</a:t>
            </a:r>
          </a:p>
          <a:p>
            <a:pPr algn="l"/>
            <a:r>
              <a:rPr sz="2800" b="1">
                <a:solidFill>
                  <a:srgbClr val="2457D6"/>
                </a:solidFill>
                <a:latin typeface="Malgun Gothic"/>
                <a:ea typeface="Malgun Gothic"/>
                <a:cs typeface="Malgun Gothic"/>
              </a:rPr>
              <a:t>근거 기반 AI Agent</a:t>
            </a:r>
          </a:p>
        </p:txBody>
      </p:sp>
      <p:sp>
        <p:nvSpPr>
          <p:cNvPr id="5" name="Rounded Rectangle 4"/>
          <p:cNvSpPr/>
          <p:nvPr/>
        </p:nvSpPr>
        <p:spPr>
          <a:xfrm>
            <a:off x="731520" y="4343400"/>
            <a:ext cx="2651760" cy="566928"/>
          </a:xfrm>
          <a:prstGeom prst="roundRect">
            <a:avLst>
              <a:gd name="adj" fmla="val 30000"/>
            </a:avLst>
          </a:prstGeom>
          <a:solidFill>
            <a:srgbClr val="2457D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2200" b="1">
                <a:solidFill>
                  <a:srgbClr val="FFFFFF"/>
                </a:solidFill>
                <a:latin typeface="Malgun Gothic"/>
                <a:ea typeface="Malgun Gothic"/>
                <a:cs typeface="Malgun Gothic"/>
              </a:rPr>
              <a:t>G078  문희주</a:t>
            </a:r>
          </a:p>
        </p:txBody>
      </p:sp>
      <p:sp>
        <p:nvSpPr>
          <p:cNvPr id="6" name="TextBox 5"/>
          <p:cNvSpPr txBox="1"/>
          <p:nvPr/>
        </p:nvSpPr>
        <p:spPr>
          <a:xfrm>
            <a:off x="731520" y="5166360"/>
            <a:ext cx="6035040" cy="822960"/>
          </a:xfrm>
          <a:prstGeom prst="rect">
            <a:avLst/>
          </a:prstGeom>
          <a:noFill/>
        </p:spPr>
        <p:txBody>
          <a:bodyPr wrap="square" anchor="t" lIns="0" rIns="0" tIns="0" bIns="0">
            <a:spAutoFit/>
          </a:bodyPr>
          <a:lstStyle/>
          <a:p>
            <a:pPr algn="l">
              <a:spcAft>
                <a:spcPts val="400"/>
              </a:spcAft>
            </a:pPr>
            <a:r>
              <a:rPr sz="1800" b="0">
                <a:solidFill>
                  <a:srgbClr val="5B6577"/>
                </a:solidFill>
                <a:latin typeface="Malgun Gothic"/>
                <a:ea typeface="Malgun Gothic"/>
                <a:cs typeface="Malgun Gothic"/>
              </a:rPr>
              <a:t>AI 서비스 Mini Project  ·  과제 2 (신규 Agent)</a:t>
            </a:r>
          </a:p>
          <a:p>
            <a:pPr algn="l"/>
            <a:r>
              <a:rPr sz="1800" b="0">
                <a:solidFill>
                  <a:srgbClr val="5B6577"/>
                </a:solidFill>
                <a:latin typeface="Malgun Gothic"/>
                <a:ea typeface="Malgun Gothic"/>
                <a:cs typeface="Malgun Gothic"/>
              </a:rPr>
              <a:t>첫 적용 대상: NCT WISH 영상 3편</a:t>
            </a:r>
          </a:p>
        </p:txBody>
      </p:sp>
      <p:pic>
        <p:nvPicPr>
          <p:cNvPr id="7" name="Picture 6" descr="01_home.png"/>
          <p:cNvPicPr>
            <a:picLocks noChangeAspect="1"/>
          </p:cNvPicPr>
          <p:nvPr/>
        </p:nvPicPr>
        <p:blipFill>
          <a:blip r:embed="rId2"/>
          <a:stretch>
            <a:fillRect/>
          </a:stretch>
        </p:blipFill>
        <p:spPr>
          <a:xfrm>
            <a:off x="7086600" y="1188720"/>
            <a:ext cx="4617720" cy="2886075"/>
          </a:xfrm>
          <a:prstGeom prst="rect">
            <a:avLst/>
          </a:prstGeom>
          <a:ln w="12700">
            <a:solidFill>
              <a:srgbClr val="D5DBEA"/>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장면을 설명하면, 원본 자막으로 검증한 시점을 찾아 준다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2</a:t>
            </a:r>
          </a:p>
        </p:txBody>
      </p:sp>
      <p:graphicFrame>
        <p:nvGraphicFramePr>
          <p:cNvPr id="5" name="Table 4"/>
          <p:cNvGraphicFramePr>
            <a:graphicFrameLocks noGrp="1"/>
          </p:cNvGraphicFramePr>
          <p:nvPr/>
        </p:nvGraphicFramePr>
        <p:xfrm>
          <a:off x="548640" y="1417320"/>
          <a:ext cx="5760720" cy="2926080"/>
        </p:xfrm>
        <a:graphic>
          <a:graphicData uri="http://schemas.openxmlformats.org/drawingml/2006/table">
            <a:tbl>
              <a:tblPr firstRow="1" bandRow="0">
                <a:tableStyleId>{5C22544A-7EE6-4342-B048-85BDC9FD1C3A}</a:tableStyleId>
              </a:tblPr>
              <a:tblGrid>
                <a:gridCol w="1188720"/>
                <a:gridCol w="4572000"/>
              </a:tblGrid>
              <a:tr h="731520">
                <a:tc>
                  <a:txBody>
                    <a:bodyPr wrap="square"/>
                    <a:lstStyle/>
                    <a:p>
                      <a:pPr algn="l"/>
                      <a:r>
                        <a:rPr sz="1500" b="1">
                          <a:solidFill>
                            <a:srgbClr val="1B2437"/>
                          </a:solidFill>
                          <a:latin typeface="Malgun Gothic"/>
                          <a:ea typeface="Malgun Gothic"/>
                          <a:cs typeface="Malgun Gothic"/>
                        </a:rPr>
                        <a:t>구분</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500" b="1">
                          <a:solidFill>
                            <a:srgbClr val="1B2437"/>
                          </a:solidFill>
                          <a:latin typeface="Malgun Gothic"/>
                          <a:ea typeface="Malgun Gothic"/>
                          <a:cs typeface="Malgun Gothic"/>
                        </a:rPr>
                        <a:t>내용</a:t>
                      </a:r>
                    </a:p>
                  </a:txBody>
                  <a:tcPr marL="91440" marR="91440" marT="36576" marB="36576" anchor="ctr">
                    <a:lnL w="0">
                      <a:noFill/>
                    </a:lnL>
                    <a:lnR w="0">
                      <a:noFill/>
                    </a:lnR>
                    <a:lnT w="0">
                      <a:noFill/>
                    </a:lnT>
                    <a:lnB w="9525" cap="flat" cmpd="sng" algn="ctr">
                      <a:solidFill>
                        <a:srgbClr val="DDE2EC"/>
                      </a:solidFill>
                    </a:lnB>
                    <a:solidFill>
                      <a:srgbClr val="F3F5F9"/>
                    </a:solidFill>
                  </a:tcPr>
                </a:tc>
              </a:tr>
              <a:tr h="731520">
                <a:tc>
                  <a:txBody>
                    <a:bodyPr wrap="square"/>
                    <a:lstStyle/>
                    <a:p>
                      <a:pPr algn="l"/>
                      <a:r>
                        <a:rPr sz="1500" b="1">
                          <a:solidFill>
                            <a:srgbClr val="1B2437"/>
                          </a:solidFill>
                          <a:latin typeface="Malgun Gothic"/>
                          <a:ea typeface="Malgun Gothic"/>
                          <a:cs typeface="Malgun Gothic"/>
                        </a:rPr>
                        <a:t>문제</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제목도 대사도 모르고 "그 장면"만 기억난다</a:t>
                      </a:r>
                    </a:p>
                  </a:txBody>
                  <a:tcPr marL="91440" marR="91440" marT="36576" marB="36576" anchor="ctr">
                    <a:lnL w="0">
                      <a:noFill/>
                    </a:lnL>
                    <a:lnR w="0">
                      <a:noFill/>
                    </a:lnR>
                    <a:lnT w="0">
                      <a:noFill/>
                    </a:lnT>
                    <a:lnB w="9525" cap="flat" cmpd="sng" algn="ctr">
                      <a:solidFill>
                        <a:srgbClr val="DDE2EC"/>
                      </a:solidFill>
                    </a:lnB>
                    <a:solidFill>
                      <a:srgbClr val="FFFFFF"/>
                    </a:solidFill>
                  </a:tcPr>
                </a:tc>
              </a:tr>
              <a:tr h="731520">
                <a:tc>
                  <a:txBody>
                    <a:bodyPr wrap="square"/>
                    <a:lstStyle/>
                    <a:p>
                      <a:pPr algn="l"/>
                      <a:r>
                        <a:rPr sz="1500" b="1">
                          <a:solidFill>
                            <a:srgbClr val="1B2437"/>
                          </a:solidFill>
                          <a:latin typeface="Malgun Gothic"/>
                          <a:ea typeface="Malgun Gothic"/>
                          <a:cs typeface="Malgun Gothic"/>
                        </a:rPr>
                        <a:t>해결</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검색 → 원본 cue 대조 → 의미 판정 → 영상 시점과 앞뒤 자막</a:t>
                      </a:r>
                    </a:p>
                  </a:txBody>
                  <a:tcPr marL="91440" marR="91440" marT="36576" marB="36576" anchor="ctr">
                    <a:lnL w="0">
                      <a:noFill/>
                    </a:lnL>
                    <a:lnR w="0">
                      <a:noFill/>
                    </a:lnR>
                    <a:lnT w="0">
                      <a:noFill/>
                    </a:lnT>
                    <a:lnB w="9525" cap="flat" cmpd="sng" algn="ctr">
                      <a:solidFill>
                        <a:srgbClr val="DDE2EC"/>
                      </a:solidFill>
                    </a:lnB>
                    <a:solidFill>
                      <a:srgbClr val="FFFFFF"/>
                    </a:solidFill>
                  </a:tcPr>
                </a:tc>
              </a:tr>
              <a:tr h="731520">
                <a:tc>
                  <a:txBody>
                    <a:bodyPr wrap="square"/>
                    <a:lstStyle/>
                    <a:p>
                      <a:pPr algn="l"/>
                      <a:r>
                        <a:rPr sz="1500" b="1">
                          <a:solidFill>
                            <a:srgbClr val="1B2437"/>
                          </a:solidFill>
                          <a:latin typeface="Malgun Gothic"/>
                          <a:ea typeface="Malgun Gothic"/>
                          <a:cs typeface="Malgun Gothic"/>
                        </a:rPr>
                        <a:t>제약</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자막은 영어 번역본이고 화자 표시가 없어, 화자는 단정하지 않는다</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pic>
        <p:nvPicPr>
          <p:cNvPr id="6" name="Picture 5" descr="03_result_detail.png"/>
          <p:cNvPicPr>
            <a:picLocks noChangeAspect="1"/>
          </p:cNvPicPr>
          <p:nvPr/>
        </p:nvPicPr>
        <p:blipFill>
          <a:blip r:embed="rId2"/>
          <a:stretch>
            <a:fillRect/>
          </a:stretch>
        </p:blipFill>
        <p:spPr>
          <a:xfrm>
            <a:off x="6583680" y="1417320"/>
            <a:ext cx="5120640" cy="3200400"/>
          </a:xfrm>
          <a:prstGeom prst="rect">
            <a:avLst/>
          </a:prstGeom>
          <a:ln w="12700">
            <a:solidFill>
              <a:srgbClr val="D5DBEA"/>
            </a:solidFill>
          </a:ln>
        </p:spPr>
      </p:pic>
      <p:sp>
        <p:nvSpPr>
          <p:cNvPr id="7" name="TextBox 6"/>
          <p:cNvSpPr txBox="1"/>
          <p:nvPr/>
        </p:nvSpPr>
        <p:spPr>
          <a:xfrm>
            <a:off x="6583680" y="4617720"/>
            <a:ext cx="5120640" cy="274320"/>
          </a:xfrm>
          <a:prstGeom prst="rect">
            <a:avLst/>
          </a:prstGeom>
          <a:noFill/>
        </p:spPr>
        <p:txBody>
          <a:bodyPr wrap="square" anchor="t" lIns="0" rIns="0" tIns="0" bIns="0">
            <a:spAutoFit/>
          </a:bodyPr>
          <a:lstStyle/>
          <a:p>
            <a:pPr algn="l"/>
            <a:r>
              <a:rPr sz="1200" b="0">
                <a:solidFill>
                  <a:srgbClr val="5B6577"/>
                </a:solidFill>
                <a:latin typeface="Malgun Gothic"/>
                <a:ea typeface="Malgun Gothic"/>
                <a:cs typeface="Malgun Gothic"/>
              </a:rPr>
              <a:t>결과 화면: 검증된 장면 카드, 영상, 원본 앞뒤 자막</a:t>
            </a:r>
          </a:p>
        </p:txBody>
      </p:sp>
      <p:sp>
        <p:nvSpPr>
          <p:cNvPr id="8" name="TextBox 7"/>
          <p:cNvSpPr txBox="1"/>
          <p:nvPr/>
        </p:nvSpPr>
        <p:spPr>
          <a:xfrm>
            <a:off x="548640" y="4572000"/>
            <a:ext cx="5486400" cy="365760"/>
          </a:xfrm>
          <a:prstGeom prst="rect">
            <a:avLst/>
          </a:prstGeom>
          <a:noFill/>
        </p:spPr>
        <p:txBody>
          <a:bodyPr wrap="square" anchor="t" lIns="0" rIns="0" tIns="0" bIns="0">
            <a:spAutoFit/>
          </a:bodyPr>
          <a:lstStyle/>
          <a:p>
            <a:pPr algn="l"/>
            <a:r>
              <a:rPr sz="1600" b="1">
                <a:solidFill>
                  <a:srgbClr val="1B2437"/>
                </a:solidFill>
                <a:latin typeface="Malgun Gothic"/>
                <a:ea typeface="Malgun Gothic"/>
                <a:cs typeface="Malgun Gothic"/>
              </a:rPr>
              <a:t>세부 task</a:t>
            </a:r>
          </a:p>
        </p:txBody>
      </p:sp>
      <p:graphicFrame>
        <p:nvGraphicFramePr>
          <p:cNvPr id="9" name="Table 8"/>
          <p:cNvGraphicFramePr>
            <a:graphicFrameLocks noGrp="1"/>
          </p:cNvGraphicFramePr>
          <p:nvPr/>
        </p:nvGraphicFramePr>
        <p:xfrm>
          <a:off x="548640" y="4983480"/>
          <a:ext cx="11155680" cy="1005840"/>
        </p:xfrm>
        <a:graphic>
          <a:graphicData uri="http://schemas.openxmlformats.org/drawingml/2006/table">
            <a:tbl>
              <a:tblPr firstRow="1" bandRow="0">
                <a:tableStyleId>{5C22544A-7EE6-4342-B048-85BDC9FD1C3A}</a:tableStyleId>
              </a:tblPr>
              <a:tblGrid>
                <a:gridCol w="1828800"/>
                <a:gridCol w="1865376"/>
                <a:gridCol w="1865376"/>
                <a:gridCol w="1865376"/>
                <a:gridCol w="1865376"/>
                <a:gridCol w="1865376"/>
              </a:tblGrid>
              <a:tr h="502920">
                <a:tc>
                  <a:txBody>
                    <a:bodyPr wrap="square"/>
                    <a:lstStyle/>
                    <a:p>
                      <a:pPr algn="l"/>
                      <a:r>
                        <a:rPr sz="1200" b="1">
                          <a:solidFill>
                            <a:srgbClr val="1B2437"/>
                          </a:solidFill>
                          <a:latin typeface="Malgun Gothic"/>
                          <a:ea typeface="Malgun Gothic"/>
                          <a:cs typeface="Malgun Gothic"/>
                        </a:rPr>
                        <a:t>파싱·청킹</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200" b="1">
                          <a:solidFill>
                            <a:srgbClr val="1B2437"/>
                          </a:solidFill>
                          <a:latin typeface="Malgun Gothic"/>
                          <a:ea typeface="Malgun Gothic"/>
                          <a:cs typeface="Malgun Gothic"/>
                        </a:rPr>
                        <a:t>Hybrid 검색</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200" b="1">
                          <a:solidFill>
                            <a:srgbClr val="1B2437"/>
                          </a:solidFill>
                          <a:latin typeface="Malgun Gothic"/>
                          <a:ea typeface="Malgun Gothic"/>
                          <a:cs typeface="Malgun Gothic"/>
                        </a:rPr>
                        <a:t>LangGraph</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200" b="1">
                          <a:solidFill>
                            <a:srgbClr val="1B2437"/>
                          </a:solidFill>
                          <a:latin typeface="Malgun Gothic"/>
                          <a:ea typeface="Malgun Gothic"/>
                          <a:cs typeface="Malgun Gothic"/>
                        </a:rPr>
                        <a:t>MCP 서버</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200" b="1">
                          <a:solidFill>
                            <a:srgbClr val="1B2437"/>
                          </a:solidFill>
                          <a:latin typeface="Malgun Gothic"/>
                          <a:ea typeface="Malgun Gothic"/>
                          <a:cs typeface="Malgun Gothic"/>
                        </a:rPr>
                        <a:t>API·Vue·SSE</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200" b="1">
                          <a:solidFill>
                            <a:srgbClr val="1B2437"/>
                          </a:solidFill>
                          <a:latin typeface="Malgun Gothic"/>
                          <a:ea typeface="Malgun Gothic"/>
                          <a:cs typeface="Malgun Gothic"/>
                        </a:rPr>
                        <a:t>평가·추적</a:t>
                      </a:r>
                    </a:p>
                  </a:txBody>
                  <a:tcPr marL="91440" marR="91440" marT="36576" marB="36576" anchor="ctr">
                    <a:lnL w="0">
                      <a:noFill/>
                    </a:lnL>
                    <a:lnR w="0">
                      <a:noFill/>
                    </a:lnR>
                    <a:lnT w="0">
                      <a:noFill/>
                    </a:lnT>
                    <a:lnB w="9525" cap="flat" cmpd="sng" algn="ctr">
                      <a:solidFill>
                        <a:srgbClr val="DDE2EC"/>
                      </a:solidFill>
                    </a:lnB>
                    <a:solidFill>
                      <a:srgbClr val="F3F5F9"/>
                    </a:solidFill>
                  </a:tcPr>
                </a:tc>
              </a:tr>
              <a:tr h="502920">
                <a:tc>
                  <a:txBody>
                    <a:bodyPr wrap="square"/>
                    <a:lstStyle/>
                    <a:p>
                      <a:pPr algn="l"/>
                      <a:r>
                        <a:rPr sz="1200" b="0">
                          <a:solidFill>
                            <a:srgbClr val="1B2437"/>
                          </a:solidFill>
                          <a:latin typeface="Malgun Gothic"/>
                          <a:ea typeface="Malgun Gothic"/>
                          <a:cs typeface="Malgun Gothic"/>
                        </a:rPr>
                        <a:t>cue 3,750 → 청크 869</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200" b="0">
                          <a:solidFill>
                            <a:srgbClr val="1B2437"/>
                          </a:solidFill>
                          <a:latin typeface="Malgun Gothic"/>
                          <a:ea typeface="Malgun Gothic"/>
                          <a:cs typeface="Malgun Gothic"/>
                        </a:rPr>
                        <a:t>BM25 + bge-m3, RRF</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200" b="0">
                          <a:solidFill>
                            <a:srgbClr val="1B2437"/>
                          </a:solidFill>
                          <a:latin typeface="Malgun Gothic"/>
                          <a:ea typeface="Malgun Gothic"/>
                          <a:cs typeface="Malgun Gothic"/>
                        </a:rPr>
                        <a:t>6개 노드, 재검색 ≤ 2</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200" b="0">
                          <a:solidFill>
                            <a:srgbClr val="1B2437"/>
                          </a:solidFill>
                          <a:latin typeface="Malgun Gothic"/>
                          <a:ea typeface="Malgun Gothic"/>
                          <a:cs typeface="Malgun Gothic"/>
                        </a:rPr>
                        <a:t>읽기 전용 도구 4개</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200" b="0">
                          <a:solidFill>
                            <a:srgbClr val="1B2437"/>
                          </a:solidFill>
                          <a:latin typeface="Malgun Gothic"/>
                          <a:ea typeface="Malgun Gothic"/>
                          <a:cs typeface="Malgun Gothic"/>
                        </a:rPr>
                        <a:t>진행 단계 실시간</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200" b="0">
                          <a:solidFill>
                            <a:srgbClr val="1B2437"/>
                          </a:solidFill>
                          <a:latin typeface="Malgun Gothic"/>
                          <a:ea typeface="Malgun Gothic"/>
                          <a:cs typeface="Malgun Gothic"/>
                        </a:rPr>
                        <a:t>A/B/C 20문항</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결과: 16/18을 맞혔고, 근거 없는 화자 단정은 0건</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3</a:t>
            </a:r>
          </a:p>
        </p:txBody>
      </p:sp>
      <p:sp>
        <p:nvSpPr>
          <p:cNvPr id="5" name="TextBox 4"/>
          <p:cNvSpPr txBox="1"/>
          <p:nvPr/>
        </p:nvSpPr>
        <p:spPr>
          <a:xfrm>
            <a:off x="548640" y="1371600"/>
            <a:ext cx="6309360" cy="365760"/>
          </a:xfrm>
          <a:prstGeom prst="rect">
            <a:avLst/>
          </a:prstGeom>
          <a:noFill/>
        </p:spPr>
        <p:txBody>
          <a:bodyPr wrap="square" anchor="t" lIns="0" rIns="0" tIns="0" bIns="0">
            <a:spAutoFit/>
          </a:bodyPr>
          <a:lstStyle/>
          <a:p>
            <a:pPr algn="l"/>
            <a:r>
              <a:rPr sz="1600" b="1">
                <a:solidFill>
                  <a:srgbClr val="5B6577"/>
                </a:solidFill>
                <a:latin typeface="Malgun Gothic"/>
                <a:ea typeface="Malgun Gothic"/>
                <a:cs typeface="Malgun Gothic"/>
              </a:rPr>
              <a:t>개선 전/후 (OpenAI, 같은 평가셋·같은 모델)</a:t>
            </a:r>
          </a:p>
        </p:txBody>
      </p:sp>
      <p:graphicFrame>
        <p:nvGraphicFramePr>
          <p:cNvPr id="6" name="Table 5"/>
          <p:cNvGraphicFramePr>
            <a:graphicFrameLocks noGrp="1"/>
          </p:cNvGraphicFramePr>
          <p:nvPr/>
        </p:nvGraphicFramePr>
        <p:xfrm>
          <a:off x="548640" y="1783080"/>
          <a:ext cx="6309360" cy="3072384"/>
        </p:xfrm>
        <a:graphic>
          <a:graphicData uri="http://schemas.openxmlformats.org/drawingml/2006/table">
            <a:tbl>
              <a:tblPr firstRow="1" bandRow="0">
                <a:tableStyleId>{5C22544A-7EE6-4342-B048-85BDC9FD1C3A}</a:tableStyleId>
              </a:tblPr>
              <a:tblGrid>
                <a:gridCol w="3017520"/>
                <a:gridCol w="1097280"/>
                <a:gridCol w="1097280"/>
                <a:gridCol w="1097280"/>
              </a:tblGrid>
              <a:tr h="512064">
                <a:tc>
                  <a:txBody>
                    <a:bodyPr wrap="square"/>
                    <a:lstStyle/>
                    <a:p>
                      <a:pPr algn="l"/>
                      <a:r>
                        <a:rPr sz="1600" b="1">
                          <a:solidFill>
                            <a:srgbClr val="1B2437"/>
                          </a:solidFill>
                          <a:latin typeface="Malgun Gothic"/>
                          <a:ea typeface="Malgun Gothic"/>
                          <a:cs typeface="Malgun Gothic"/>
                        </a:rPr>
                        <a:t>지표</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600" b="1">
                          <a:solidFill>
                            <a:srgbClr val="1B2437"/>
                          </a:solidFill>
                          <a:latin typeface="Malgun Gothic"/>
                          <a:ea typeface="Malgun Gothic"/>
                          <a:cs typeface="Malgun Gothic"/>
                        </a:rPr>
                        <a:t>v2</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600" b="1">
                          <a:solidFill>
                            <a:srgbClr val="1B2437"/>
                          </a:solidFill>
                          <a:latin typeface="Malgun Gothic"/>
                          <a:ea typeface="Malgun Gothic"/>
                          <a:cs typeface="Malgun Gothic"/>
                        </a:rPr>
                        <a:t>v3</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600" b="1">
                          <a:solidFill>
                            <a:srgbClr val="1B2437"/>
                          </a:solidFill>
                          <a:latin typeface="Malgun Gothic"/>
                          <a:ea typeface="Malgun Gothic"/>
                          <a:cs typeface="Malgun Gothic"/>
                        </a:rPr>
                        <a:t>변화</a:t>
                      </a:r>
                    </a:p>
                  </a:txBody>
                  <a:tcPr marL="91440" marR="91440" marT="36576" marB="36576" anchor="ctr">
                    <a:lnL w="0">
                      <a:noFill/>
                    </a:lnL>
                    <a:lnR w="0">
                      <a:noFill/>
                    </a:lnR>
                    <a:lnT w="0">
                      <a:noFill/>
                    </a:lnT>
                    <a:lnB w="9525" cap="flat" cmpd="sng" algn="ctr">
                      <a:solidFill>
                        <a:srgbClr val="DDE2EC"/>
                      </a:solidFill>
                    </a:lnB>
                    <a:solidFill>
                      <a:srgbClr val="F3F5F9"/>
                    </a:solidFill>
                  </a:tcPr>
                </a:tc>
              </a:tr>
              <a:tr h="512064">
                <a:tc>
                  <a:txBody>
                    <a:bodyPr wrap="square"/>
                    <a:lstStyle/>
                    <a:p>
                      <a:pPr algn="l"/>
                      <a:r>
                        <a:rPr sz="1600" b="0">
                          <a:solidFill>
                            <a:srgbClr val="1B2437"/>
                          </a:solidFill>
                          <a:latin typeface="Malgun Gothic"/>
                          <a:ea typeface="Malgun Gothic"/>
                          <a:cs typeface="Malgun Gothic"/>
                        </a:rPr>
                        <a:t>1위 적중 (18문항)</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16</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16</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같음</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600" b="0">
                          <a:solidFill>
                            <a:srgbClr val="1B2437"/>
                          </a:solidFill>
                          <a:latin typeface="Malgun Gothic"/>
                          <a:ea typeface="Malgun Gothic"/>
                          <a:cs typeface="Malgun Gothic"/>
                        </a:rPr>
                        <a:t>화자 질문 처리 (4문항)</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2</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3</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+1</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600" b="0">
                          <a:solidFill>
                            <a:srgbClr val="1B2437"/>
                          </a:solidFill>
                          <a:latin typeface="Malgun Gothic"/>
                          <a:ea typeface="Malgun Gothic"/>
                          <a:cs typeface="Malgun Gothic"/>
                        </a:rPr>
                        <a:t>LLM 호출 (20문항)</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50</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42</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−16%</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600" b="0">
                          <a:solidFill>
                            <a:srgbClr val="1B2437"/>
                          </a:solidFill>
                          <a:latin typeface="Malgun Gothic"/>
                          <a:ea typeface="Malgun Gothic"/>
                          <a:cs typeface="Malgun Gothic"/>
                        </a:rPr>
                        <a:t>평균 지연</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2.88초</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2.57초</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600" b="0">
                          <a:solidFill>
                            <a:srgbClr val="1B2437"/>
                          </a:solidFill>
                          <a:latin typeface="Malgun Gothic"/>
                          <a:ea typeface="Malgun Gothic"/>
                          <a:cs typeface="Malgun Gothic"/>
                        </a:rPr>
                        <a:t>−11%</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600" b="0">
                          <a:solidFill>
                            <a:srgbClr val="1B2437"/>
                          </a:solidFill>
                          <a:latin typeface="Malgun Gothic"/>
                          <a:ea typeface="Malgun Gothic"/>
                          <a:cs typeface="Malgun Gothic"/>
                        </a:rPr>
                        <a:t>입력 토큰 (C+C-ko)</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ctr"/>
                      <a:r>
                        <a:rPr sz="1600" b="0">
                          <a:solidFill>
                            <a:srgbClr val="1B2437"/>
                          </a:solidFill>
                          <a:latin typeface="Malgun Gothic"/>
                          <a:ea typeface="Malgun Gothic"/>
                          <a:cs typeface="Malgun Gothic"/>
                        </a:rPr>
                        <a:t>56,941</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ctr"/>
                      <a:r>
                        <a:rPr sz="1600" b="0">
                          <a:solidFill>
                            <a:srgbClr val="1B2437"/>
                          </a:solidFill>
                          <a:latin typeface="Malgun Gothic"/>
                          <a:ea typeface="Malgun Gothic"/>
                          <a:cs typeface="Malgun Gothic"/>
                        </a:rPr>
                        <a:t>70,770</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ctr"/>
                      <a:r>
                        <a:rPr sz="1600" b="0">
                          <a:solidFill>
                            <a:srgbClr val="1B2437"/>
                          </a:solidFill>
                          <a:latin typeface="Malgun Gothic"/>
                          <a:ea typeface="Malgun Gothic"/>
                          <a:cs typeface="Malgun Gothic"/>
                        </a:rPr>
                        <a:t>+24%</a:t>
                      </a:r>
                    </a:p>
                  </a:txBody>
                  <a:tcPr marL="91440" marR="91440" marT="36576" marB="36576" anchor="ctr">
                    <a:lnL w="0">
                      <a:noFill/>
                    </a:lnL>
                    <a:lnR w="0">
                      <a:noFill/>
                    </a:lnR>
                    <a:lnT w="0">
                      <a:noFill/>
                    </a:lnT>
                    <a:lnB w="9525" cap="flat" cmpd="sng" algn="ctr">
                      <a:solidFill>
                        <a:srgbClr val="DDE2EC"/>
                      </a:solidFill>
                    </a:lnB>
                    <a:solidFill>
                      <a:srgbClr val="E8EEFC"/>
                    </a:solidFill>
                  </a:tcPr>
                </a:tc>
              </a:tr>
            </a:tbl>
          </a:graphicData>
        </a:graphic>
      </p:graphicFrame>
      <p:sp>
        <p:nvSpPr>
          <p:cNvPr id="7" name="TextBox 6"/>
          <p:cNvSpPr txBox="1"/>
          <p:nvPr/>
        </p:nvSpPr>
        <p:spPr>
          <a:xfrm>
            <a:off x="7223760" y="1371600"/>
            <a:ext cx="4480560" cy="365760"/>
          </a:xfrm>
          <a:prstGeom prst="rect">
            <a:avLst/>
          </a:prstGeom>
          <a:noFill/>
        </p:spPr>
        <p:txBody>
          <a:bodyPr wrap="square" anchor="t" lIns="0" rIns="0" tIns="0" bIns="0">
            <a:spAutoFit/>
          </a:bodyPr>
          <a:lstStyle/>
          <a:p>
            <a:pPr algn="l"/>
            <a:r>
              <a:rPr sz="1600" b="1">
                <a:solidFill>
                  <a:srgbClr val="5B6577"/>
                </a:solidFill>
                <a:latin typeface="Malgun Gothic"/>
                <a:ea typeface="Malgun Gothic"/>
                <a:cs typeface="Malgun Gothic"/>
              </a:rPr>
              <a:t>A / B / C 1위 적중 수 (18문항 중)</a:t>
            </a:r>
          </a:p>
        </p:txBody>
      </p:sp>
      <p:graphicFrame>
        <p:nvGraphicFramePr>
          <p:cNvPr id="8" name="Chart 7"/>
          <p:cNvGraphicFramePr>
            <a:graphicFrameLocks noGrp="1"/>
          </p:cNvGraphicFramePr>
          <p:nvPr/>
        </p:nvGraphicFramePr>
        <p:xfrm>
          <a:off x="7132320" y="1737360"/>
          <a:ext cx="4572000" cy="3154680"/>
        </p:xfrm>
        <a:graphic>
          <a:graphicData uri="http://schemas.openxmlformats.org/drawingml/2006/chart">
            <c:chart xmlns:c="http://schemas.openxmlformats.org/drawingml/2006/chart" r:id="rId2"/>
          </a:graphicData>
        </a:graphic>
      </p:graphicFrame>
      <p:sp>
        <p:nvSpPr>
          <p:cNvPr id="9" name="TextBox 8"/>
          <p:cNvSpPr txBox="1"/>
          <p:nvPr/>
        </p:nvSpPr>
        <p:spPr>
          <a:xfrm>
            <a:off x="7223760" y="4892040"/>
            <a:ext cx="4480560" cy="365760"/>
          </a:xfrm>
          <a:prstGeom prst="rect">
            <a:avLst/>
          </a:prstGeom>
          <a:noFill/>
        </p:spPr>
        <p:txBody>
          <a:bodyPr wrap="square" anchor="t" lIns="0" rIns="0" tIns="0" bIns="0">
            <a:spAutoFit/>
          </a:bodyPr>
          <a:lstStyle/>
          <a:p>
            <a:pPr algn="l"/>
            <a:r>
              <a:rPr sz="1200" b="0">
                <a:solidFill>
                  <a:srgbClr val="5B6577"/>
                </a:solidFill>
                <a:latin typeface="Malgun Gothic"/>
                <a:ea typeface="Malgun Gothic"/>
                <a:cs typeface="Malgun Gothic"/>
              </a:rPr>
              <a:t>같은 영어 검색어 조건 · 1~5문항 차이, 1회 실행이라 우위 단정 안 함</a:t>
            </a:r>
          </a:p>
        </p:txBody>
      </p:sp>
      <p:sp>
        <p:nvSpPr>
          <p:cNvPr id="10" name="Rounded Rectangle 9"/>
          <p:cNvSpPr/>
          <p:nvPr/>
        </p:nvSpPr>
        <p:spPr>
          <a:xfrm>
            <a:off x="548640" y="5285232"/>
            <a:ext cx="2697480"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303520"/>
            <a:ext cx="2423160" cy="411480"/>
          </a:xfrm>
          <a:prstGeom prst="rect">
            <a:avLst/>
          </a:prstGeom>
          <a:noFill/>
        </p:spPr>
        <p:txBody>
          <a:bodyPr wrap="square" anchor="ctr" lIns="0" rIns="0" tIns="0" bIns="0">
            <a:spAutoFit/>
          </a:bodyPr>
          <a:lstStyle/>
          <a:p>
            <a:pPr algn="l"/>
            <a:r>
              <a:rPr sz="2200" b="1">
                <a:solidFill>
                  <a:srgbClr val="2457D6"/>
                </a:solidFill>
                <a:latin typeface="Malgun Gothic"/>
                <a:ea typeface="Malgun Gothic"/>
                <a:cs typeface="Malgun Gothic"/>
              </a:rPr>
              <a:t>0건</a:t>
            </a:r>
          </a:p>
        </p:txBody>
      </p:sp>
      <p:sp>
        <p:nvSpPr>
          <p:cNvPr id="12" name="TextBox 11"/>
          <p:cNvSpPr txBox="1"/>
          <p:nvPr/>
        </p:nvSpPr>
        <p:spPr>
          <a:xfrm>
            <a:off x="685800" y="5733288"/>
            <a:ext cx="2423160" cy="566928"/>
          </a:xfrm>
          <a:prstGeom prst="rect">
            <a:avLst/>
          </a:prstGeom>
          <a:noFill/>
        </p:spPr>
        <p:txBody>
          <a:bodyPr wrap="square" anchor="t" lIns="0" rIns="0" tIns="0" bIns="0">
            <a:spAutoFit/>
          </a:bodyPr>
          <a:lstStyle/>
          <a:p>
            <a:pPr algn="l">
              <a:lnSpc>
                <a:spcPct val="100000"/>
              </a:lnSpc>
            </a:pPr>
            <a:r>
              <a:rPr sz="1200" b="0">
                <a:solidFill>
                  <a:srgbClr val="1B2437"/>
                </a:solidFill>
                <a:latin typeface="Malgun Gothic"/>
                <a:ea typeface="Malgun Gothic"/>
                <a:cs typeface="Malgun Gothic"/>
              </a:rPr>
              <a:t>근거 없이 화자를 단정한 경우</a:t>
            </a:r>
          </a:p>
        </p:txBody>
      </p:sp>
      <p:sp>
        <p:nvSpPr>
          <p:cNvPr id="13" name="Rounded Rectangle 12"/>
          <p:cNvSpPr/>
          <p:nvPr/>
        </p:nvSpPr>
        <p:spPr>
          <a:xfrm>
            <a:off x="3355848" y="5285232"/>
            <a:ext cx="2697480"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3008" y="5303520"/>
            <a:ext cx="2423160" cy="411480"/>
          </a:xfrm>
          <a:prstGeom prst="rect">
            <a:avLst/>
          </a:prstGeom>
          <a:noFill/>
        </p:spPr>
        <p:txBody>
          <a:bodyPr wrap="square" anchor="ctr" lIns="0" rIns="0" tIns="0" bIns="0">
            <a:spAutoFit/>
          </a:bodyPr>
          <a:lstStyle/>
          <a:p>
            <a:pPr algn="l"/>
            <a:r>
              <a:rPr sz="2200" b="1">
                <a:solidFill>
                  <a:srgbClr val="2457D6"/>
                </a:solidFill>
                <a:latin typeface="Malgun Gothic"/>
                <a:ea typeface="Malgun Gothic"/>
                <a:cs typeface="Malgun Gothic"/>
              </a:rPr>
              <a:t>16 → 16</a:t>
            </a:r>
          </a:p>
        </p:txBody>
      </p:sp>
      <p:sp>
        <p:nvSpPr>
          <p:cNvPr id="15" name="TextBox 14"/>
          <p:cNvSpPr txBox="1"/>
          <p:nvPr/>
        </p:nvSpPr>
        <p:spPr>
          <a:xfrm>
            <a:off x="3493008" y="5733288"/>
            <a:ext cx="2423160" cy="566928"/>
          </a:xfrm>
          <a:prstGeom prst="rect">
            <a:avLst/>
          </a:prstGeom>
          <a:noFill/>
        </p:spPr>
        <p:txBody>
          <a:bodyPr wrap="square" anchor="t" lIns="0" rIns="0" tIns="0" bIns="0">
            <a:spAutoFit/>
          </a:bodyPr>
          <a:lstStyle/>
          <a:p>
            <a:pPr algn="l">
              <a:lnSpc>
                <a:spcPct val="100000"/>
              </a:lnSpc>
            </a:pPr>
            <a:r>
              <a:rPr sz="1200" b="0">
                <a:solidFill>
                  <a:srgbClr val="1B2437"/>
                </a:solidFill>
                <a:latin typeface="Malgun Gothic"/>
                <a:ea typeface="Malgun Gothic"/>
                <a:cs typeface="Malgun Gothic"/>
              </a:rPr>
              <a:t>이중 첫 검색을 켜도 같음, 검색만 80 → 98회 → 기본 꺼짐</a:t>
            </a:r>
          </a:p>
        </p:txBody>
      </p:sp>
      <p:sp>
        <p:nvSpPr>
          <p:cNvPr id="16" name="Rounded Rectangle 15"/>
          <p:cNvSpPr/>
          <p:nvPr/>
        </p:nvSpPr>
        <p:spPr>
          <a:xfrm>
            <a:off x="6163055" y="5285232"/>
            <a:ext cx="2697480"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5303520"/>
            <a:ext cx="2423160" cy="411480"/>
          </a:xfrm>
          <a:prstGeom prst="rect">
            <a:avLst/>
          </a:prstGeom>
          <a:noFill/>
        </p:spPr>
        <p:txBody>
          <a:bodyPr wrap="square" anchor="ctr" lIns="0" rIns="0" tIns="0" bIns="0">
            <a:spAutoFit/>
          </a:bodyPr>
          <a:lstStyle/>
          <a:p>
            <a:pPr algn="l"/>
            <a:r>
              <a:rPr sz="2200" b="1">
                <a:solidFill>
                  <a:srgbClr val="2457D6"/>
                </a:solidFill>
                <a:latin typeface="Malgun Gothic"/>
                <a:ea typeface="Malgun Gothic"/>
                <a:cs typeface="Malgun Gothic"/>
              </a:rPr>
              <a:t>20초/10초</a:t>
            </a:r>
          </a:p>
        </p:txBody>
      </p:sp>
      <p:sp>
        <p:nvSpPr>
          <p:cNvPr id="18" name="TextBox 17"/>
          <p:cNvSpPr txBox="1"/>
          <p:nvPr/>
        </p:nvSpPr>
        <p:spPr>
          <a:xfrm>
            <a:off x="6300216" y="5733288"/>
            <a:ext cx="2423160" cy="566928"/>
          </a:xfrm>
          <a:prstGeom prst="rect">
            <a:avLst/>
          </a:prstGeom>
          <a:noFill/>
        </p:spPr>
        <p:txBody>
          <a:bodyPr wrap="square" anchor="t" lIns="0" rIns="0" tIns="0" bIns="0">
            <a:spAutoFit/>
          </a:bodyPr>
          <a:lstStyle/>
          <a:p>
            <a:pPr algn="l">
              <a:lnSpc>
                <a:spcPct val="100000"/>
              </a:lnSpc>
            </a:pPr>
            <a:r>
              <a:rPr sz="1200" b="0">
                <a:solidFill>
                  <a:srgbClr val="1B2437"/>
                </a:solidFill>
                <a:latin typeface="Malgun Gothic"/>
                <a:ea typeface="Malgun Gothic"/>
                <a:cs typeface="Malgun Gothic"/>
              </a:rPr>
              <a:t>청크 길이 비교 후 유지 (30/15 이상은 하락)</a:t>
            </a:r>
          </a:p>
        </p:txBody>
      </p:sp>
      <p:sp>
        <p:nvSpPr>
          <p:cNvPr id="19" name="Rounded Rectangle 18"/>
          <p:cNvSpPr/>
          <p:nvPr/>
        </p:nvSpPr>
        <p:spPr>
          <a:xfrm>
            <a:off x="8970263" y="5285232"/>
            <a:ext cx="2697480"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07424" y="5303520"/>
            <a:ext cx="2423160" cy="411480"/>
          </a:xfrm>
          <a:prstGeom prst="rect">
            <a:avLst/>
          </a:prstGeom>
          <a:noFill/>
        </p:spPr>
        <p:txBody>
          <a:bodyPr wrap="square" anchor="ctr" lIns="0" rIns="0" tIns="0" bIns="0">
            <a:spAutoFit/>
          </a:bodyPr>
          <a:lstStyle/>
          <a:p>
            <a:pPr algn="l"/>
            <a:r>
              <a:rPr sz="2200" b="1">
                <a:solidFill>
                  <a:srgbClr val="1B2437"/>
                </a:solidFill>
                <a:latin typeface="Malgun Gothic"/>
                <a:ea typeface="Malgun Gothic"/>
                <a:cs typeface="Malgun Gothic"/>
              </a:rPr>
              <a:t>한계</a:t>
            </a:r>
          </a:p>
        </p:txBody>
      </p:sp>
      <p:sp>
        <p:nvSpPr>
          <p:cNvPr id="21" name="TextBox 20"/>
          <p:cNvSpPr txBox="1"/>
          <p:nvPr/>
        </p:nvSpPr>
        <p:spPr>
          <a:xfrm>
            <a:off x="9107424" y="5733288"/>
            <a:ext cx="2423160" cy="566928"/>
          </a:xfrm>
          <a:prstGeom prst="rect">
            <a:avLst/>
          </a:prstGeom>
          <a:noFill/>
        </p:spPr>
        <p:txBody>
          <a:bodyPr wrap="square" anchor="t" lIns="0" rIns="0" tIns="0" bIns="0">
            <a:spAutoFit/>
          </a:bodyPr>
          <a:lstStyle/>
          <a:p>
            <a:pPr algn="l">
              <a:lnSpc>
                <a:spcPct val="100000"/>
              </a:lnSpc>
            </a:pPr>
            <a:r>
              <a:rPr sz="1200" b="0">
                <a:solidFill>
                  <a:srgbClr val="1B2437"/>
                </a:solidFill>
                <a:latin typeface="Malgun Gothic"/>
                <a:ea typeface="Malgun Gothic"/>
                <a:cs typeface="Malgun Gothic"/>
              </a:rPr>
              <a:t>후속 질문·번역 어휘 차이, Multi-Agent 미구현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LangGraph · MCP · RAG를 하나의 흐름으로 엮었다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4</a:t>
            </a:r>
          </a:p>
        </p:txBody>
      </p:sp>
      <p:pic>
        <p:nvPicPr>
          <p:cNvPr id="5" name="Picture 4" descr="architecture.png"/>
          <p:cNvPicPr>
            <a:picLocks noChangeAspect="1"/>
          </p:cNvPicPr>
          <p:nvPr/>
        </p:nvPicPr>
        <p:blipFill>
          <a:blip r:embed="rId2"/>
          <a:stretch>
            <a:fillRect/>
          </a:stretch>
        </p:blipFill>
        <p:spPr>
          <a:xfrm>
            <a:off x="457200" y="1463040"/>
            <a:ext cx="6766560" cy="3479260"/>
          </a:xfrm>
          <a:prstGeom prst="rect">
            <a:avLst/>
          </a:prstGeom>
        </p:spPr>
      </p:pic>
      <p:graphicFrame>
        <p:nvGraphicFramePr>
          <p:cNvPr id="6" name="Table 5"/>
          <p:cNvGraphicFramePr>
            <a:graphicFrameLocks noGrp="1"/>
          </p:cNvGraphicFramePr>
          <p:nvPr/>
        </p:nvGraphicFramePr>
        <p:xfrm>
          <a:off x="7406640" y="1463040"/>
          <a:ext cx="4343400" cy="4535424"/>
        </p:xfrm>
        <a:graphic>
          <a:graphicData uri="http://schemas.openxmlformats.org/drawingml/2006/table">
            <a:tbl>
              <a:tblPr firstRow="1" bandRow="0">
                <a:tableStyleId>{5C22544A-7EE6-4342-B048-85BDC9FD1C3A}</a:tableStyleId>
              </a:tblPr>
              <a:tblGrid>
                <a:gridCol w="1417320"/>
                <a:gridCol w="2926080"/>
              </a:tblGrid>
              <a:tr h="566928">
                <a:tc>
                  <a:txBody>
                    <a:bodyPr wrap="square"/>
                    <a:lstStyle/>
                    <a:p>
                      <a:pPr algn="l"/>
                      <a:r>
                        <a:rPr sz="1300" b="1">
                          <a:solidFill>
                            <a:srgbClr val="1B2437"/>
                          </a:solidFill>
                          <a:latin typeface="Malgun Gothic"/>
                          <a:ea typeface="Malgun Gothic"/>
                          <a:cs typeface="Malgun Gothic"/>
                        </a:rPr>
                        <a:t>구성</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300" b="1">
                          <a:solidFill>
                            <a:srgbClr val="1B2437"/>
                          </a:solidFill>
                          <a:latin typeface="Malgun Gothic"/>
                          <a:ea typeface="Malgun Gothic"/>
                          <a:cs typeface="Malgun Gothic"/>
                        </a:rPr>
                        <a:t>내용</a:t>
                      </a:r>
                    </a:p>
                  </a:txBody>
                  <a:tcPr marL="91440" marR="91440" marT="36576" marB="36576" anchor="ctr">
                    <a:lnL w="0">
                      <a:noFill/>
                    </a:lnL>
                    <a:lnR w="0">
                      <a:noFill/>
                    </a:lnR>
                    <a:lnT w="0">
                      <a:noFill/>
                    </a:lnT>
                    <a:lnB w="9525" cap="flat" cmpd="sng" algn="ctr">
                      <a:solidFill>
                        <a:srgbClr val="DDE2EC"/>
                      </a:solidFill>
                    </a:lnB>
                    <a:solidFill>
                      <a:srgbClr val="F3F5F9"/>
                    </a:solidFill>
                  </a:tcPr>
                </a:tc>
              </a:tr>
              <a:tr h="566928">
                <a:tc>
                  <a:txBody>
                    <a:bodyPr wrap="square"/>
                    <a:lstStyle/>
                    <a:p>
                      <a:pPr algn="l"/>
                      <a:r>
                        <a:rPr sz="1300" b="1">
                          <a:solidFill>
                            <a:srgbClr val="1B2437"/>
                          </a:solidFill>
                          <a:latin typeface="Malgun Gothic"/>
                          <a:ea typeface="Malgun Gothic"/>
                          <a:cs typeface="Malgun Gothic"/>
                        </a:rPr>
                        <a:t>LangGraph</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300" b="0">
                          <a:solidFill>
                            <a:srgbClr val="1B2437"/>
                          </a:solidFill>
                          <a:latin typeface="Malgun Gothic"/>
                          <a:ea typeface="Malgun Gothic"/>
                          <a:cs typeface="Malgun Gothic"/>
                        </a:rPr>
                        <a:t>분류 · 검색 · 검증 · 재검색 흐름</a:t>
                      </a:r>
                    </a:p>
                  </a:txBody>
                  <a:tcPr marL="91440" marR="91440" marT="36576" marB="36576" anchor="ctr">
                    <a:lnL w="0">
                      <a:noFill/>
                    </a:lnL>
                    <a:lnR w="0">
                      <a:noFill/>
                    </a:lnR>
                    <a:lnT w="0">
                      <a:noFill/>
                    </a:lnT>
                    <a:lnB w="9525" cap="flat" cmpd="sng" algn="ctr">
                      <a:solidFill>
                        <a:srgbClr val="DDE2EC"/>
                      </a:solidFill>
                    </a:lnB>
                    <a:solidFill>
                      <a:srgbClr val="E8EEFC"/>
                    </a:solidFill>
                  </a:tcPr>
                </a:tc>
              </a:tr>
              <a:tr h="566928">
                <a:tc>
                  <a:txBody>
                    <a:bodyPr wrap="square"/>
                    <a:lstStyle/>
                    <a:p>
                      <a:pPr algn="l"/>
                      <a:r>
                        <a:rPr sz="1300" b="1">
                          <a:solidFill>
                            <a:srgbClr val="1B2437"/>
                          </a:solidFill>
                          <a:latin typeface="Malgun Gothic"/>
                          <a:ea typeface="Malgun Gothic"/>
                          <a:cs typeface="Malgun Gothic"/>
                        </a:rPr>
                        <a:t>MCP</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300" b="0">
                          <a:solidFill>
                            <a:srgbClr val="1B2437"/>
                          </a:solidFill>
                          <a:latin typeface="Malgun Gothic"/>
                          <a:ea typeface="Malgun Gothic"/>
                          <a:cs typeface="Malgun Gothic"/>
                        </a:rPr>
                        <a:t>공식 SDK 2.x, 로컬 stdio, 읽기 전용 도구 4개</a:t>
                      </a:r>
                    </a:p>
                  </a:txBody>
                  <a:tcPr marL="91440" marR="91440" marT="36576" marB="36576" anchor="ctr">
                    <a:lnL w="0">
                      <a:noFill/>
                    </a:lnL>
                    <a:lnR w="0">
                      <a:noFill/>
                    </a:lnR>
                    <a:lnT w="0">
                      <a:noFill/>
                    </a:lnT>
                    <a:lnB w="9525" cap="flat" cmpd="sng" algn="ctr">
                      <a:solidFill>
                        <a:srgbClr val="DDE2EC"/>
                      </a:solidFill>
                    </a:lnB>
                    <a:solidFill>
                      <a:srgbClr val="E8EEFC"/>
                    </a:solidFill>
                  </a:tcPr>
                </a:tc>
              </a:tr>
              <a:tr h="566928">
                <a:tc>
                  <a:txBody>
                    <a:bodyPr wrap="square"/>
                    <a:lstStyle/>
                    <a:p>
                      <a:pPr algn="l"/>
                      <a:r>
                        <a:rPr sz="1300" b="1">
                          <a:solidFill>
                            <a:srgbClr val="1B2437"/>
                          </a:solidFill>
                          <a:latin typeface="Malgun Gothic"/>
                          <a:ea typeface="Malgun Gothic"/>
                          <a:cs typeface="Malgun Gothic"/>
                        </a:rPr>
                        <a:t>RAG</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300" b="0">
                          <a:solidFill>
                            <a:srgbClr val="1B2437"/>
                          </a:solidFill>
                          <a:latin typeface="Malgun Gothic"/>
                          <a:ea typeface="Malgun Gothic"/>
                          <a:cs typeface="Malgun Gothic"/>
                        </a:rPr>
                        <a:t>BM25 + bge-m3 + RRF, 원본 cue 근거</a:t>
                      </a:r>
                    </a:p>
                  </a:txBody>
                  <a:tcPr marL="91440" marR="91440" marT="36576" marB="36576" anchor="ctr">
                    <a:lnL w="0">
                      <a:noFill/>
                    </a:lnL>
                    <a:lnR w="0">
                      <a:noFill/>
                    </a:lnR>
                    <a:lnT w="0">
                      <a:noFill/>
                    </a:lnT>
                    <a:lnB w="9525" cap="flat" cmpd="sng" algn="ctr">
                      <a:solidFill>
                        <a:srgbClr val="DDE2EC"/>
                      </a:solidFill>
                    </a:lnB>
                    <a:solidFill>
                      <a:srgbClr val="E8EEFC"/>
                    </a:solidFill>
                  </a:tcPr>
                </a:tc>
              </a:tr>
              <a:tr h="566928">
                <a:tc>
                  <a:txBody>
                    <a:bodyPr wrap="square"/>
                    <a:lstStyle/>
                    <a:p>
                      <a:pPr algn="l"/>
                      <a:r>
                        <a:rPr sz="1300" b="1">
                          <a:solidFill>
                            <a:srgbClr val="1B2437"/>
                          </a:solidFill>
                          <a:latin typeface="Malgun Gothic"/>
                          <a:ea typeface="Malgun Gothic"/>
                          <a:cs typeface="Malgun Gothic"/>
                        </a:rPr>
                        <a:t>의존성 주입</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생성자 주입, LLM을 환경변수로 교체</a:t>
                      </a:r>
                    </a:p>
                  </a:txBody>
                  <a:tcPr marL="91440" marR="91440" marT="36576" marB="36576" anchor="ctr">
                    <a:lnL w="0">
                      <a:noFill/>
                    </a:lnL>
                    <a:lnR w="0">
                      <a:noFill/>
                    </a:lnR>
                    <a:lnT w="0">
                      <a:noFill/>
                    </a:lnT>
                    <a:lnB w="9525" cap="flat" cmpd="sng" algn="ctr">
                      <a:solidFill>
                        <a:srgbClr val="DDE2EC"/>
                      </a:solidFill>
                    </a:lnB>
                    <a:solidFill>
                      <a:srgbClr val="FFFFFF"/>
                    </a:solidFill>
                  </a:tcPr>
                </a:tc>
              </a:tr>
              <a:tr h="566928">
                <a:tc>
                  <a:txBody>
                    <a:bodyPr wrap="square"/>
                    <a:lstStyle/>
                    <a:p>
                      <a:pPr algn="l"/>
                      <a:r>
                        <a:rPr sz="1300" b="1">
                          <a:solidFill>
                            <a:srgbClr val="1B2437"/>
                          </a:solidFill>
                          <a:latin typeface="Malgun Gothic"/>
                          <a:ea typeface="Malgun Gothic"/>
                          <a:cs typeface="Malgun Gothic"/>
                        </a:rPr>
                        <a:t>LangSmith</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노드·LLM 호출·토큰 추적</a:t>
                      </a:r>
                    </a:p>
                  </a:txBody>
                  <a:tcPr marL="91440" marR="91440" marT="36576" marB="36576" anchor="ctr">
                    <a:lnL w="0">
                      <a:noFill/>
                    </a:lnL>
                    <a:lnR w="0">
                      <a:noFill/>
                    </a:lnR>
                    <a:lnT w="0">
                      <a:noFill/>
                    </a:lnT>
                    <a:lnB w="9525" cap="flat" cmpd="sng" algn="ctr">
                      <a:solidFill>
                        <a:srgbClr val="DDE2EC"/>
                      </a:solidFill>
                    </a:lnB>
                    <a:solidFill>
                      <a:srgbClr val="FFFFFF"/>
                    </a:solidFill>
                  </a:tcPr>
                </a:tc>
              </a:tr>
              <a:tr h="566928">
                <a:tc>
                  <a:txBody>
                    <a:bodyPr wrap="square"/>
                    <a:lstStyle/>
                    <a:p>
                      <a:pPr algn="l"/>
                      <a:r>
                        <a:rPr sz="1300" b="1">
                          <a:solidFill>
                            <a:srgbClr val="1B2437"/>
                          </a:solidFill>
                          <a:latin typeface="Malgun Gothic"/>
                          <a:ea typeface="Malgun Gothic"/>
                          <a:cs typeface="Malgun Gothic"/>
                        </a:rPr>
                        <a:t>모듈화</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agent · mcp · retrieval · services 분리</a:t>
                      </a:r>
                    </a:p>
                  </a:txBody>
                  <a:tcPr marL="91440" marR="91440" marT="36576" marB="36576" anchor="ctr">
                    <a:lnL w="0">
                      <a:noFill/>
                    </a:lnL>
                    <a:lnR w="0">
                      <a:noFill/>
                    </a:lnR>
                    <a:lnT w="0">
                      <a:noFill/>
                    </a:lnT>
                    <a:lnB w="9525" cap="flat" cmpd="sng" algn="ctr">
                      <a:solidFill>
                        <a:srgbClr val="DDE2EC"/>
                      </a:solidFill>
                    </a:lnB>
                    <a:solidFill>
                      <a:srgbClr val="FFFFFF"/>
                    </a:solidFill>
                  </a:tcPr>
                </a:tc>
              </a:tr>
              <a:tr h="566928">
                <a:tc>
                  <a:txBody>
                    <a:bodyPr wrap="square"/>
                    <a:lstStyle/>
                    <a:p>
                      <a:pPr algn="l"/>
                      <a:r>
                        <a:rPr sz="1300" b="1">
                          <a:solidFill>
                            <a:srgbClr val="1B2437"/>
                          </a:solidFill>
                          <a:latin typeface="Malgun Gothic"/>
                          <a:ea typeface="Malgun Gothic"/>
                          <a:cs typeface="Malgun Gothic"/>
                        </a:rPr>
                        <a:t>테스트</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백엔드 178개 · 프런트 43개</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Agent Graph: 경로는 코드가, 판단은 LLM이</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5</a:t>
            </a:r>
          </a:p>
        </p:txBody>
      </p:sp>
      <p:pic>
        <p:nvPicPr>
          <p:cNvPr id="5" name="Picture 4" descr="langgraph_flow.png"/>
          <p:cNvPicPr>
            <a:picLocks noChangeAspect="1"/>
          </p:cNvPicPr>
          <p:nvPr/>
        </p:nvPicPr>
        <p:blipFill>
          <a:blip r:embed="rId2"/>
          <a:stretch>
            <a:fillRect/>
          </a:stretch>
        </p:blipFill>
        <p:spPr>
          <a:xfrm>
            <a:off x="457200" y="1417320"/>
            <a:ext cx="5577840" cy="2109568"/>
          </a:xfrm>
          <a:prstGeom prst="rect">
            <a:avLst/>
          </a:prstGeom>
        </p:spPr>
      </p:pic>
      <p:graphicFrame>
        <p:nvGraphicFramePr>
          <p:cNvPr id="6" name="Table 5"/>
          <p:cNvGraphicFramePr>
            <a:graphicFrameLocks noGrp="1"/>
          </p:cNvGraphicFramePr>
          <p:nvPr/>
        </p:nvGraphicFramePr>
        <p:xfrm>
          <a:off x="548640" y="3657600"/>
          <a:ext cx="5577840" cy="2633472"/>
        </p:xfrm>
        <a:graphic>
          <a:graphicData uri="http://schemas.openxmlformats.org/drawingml/2006/table">
            <a:tbl>
              <a:tblPr firstRow="1" bandRow="0">
                <a:tableStyleId>{5C22544A-7EE6-4342-B048-85BDC9FD1C3A}</a:tableStyleId>
              </a:tblPr>
              <a:tblGrid>
                <a:gridCol w="2377440"/>
                <a:gridCol w="3200400"/>
              </a:tblGrid>
              <a:tr h="438912">
                <a:tc>
                  <a:txBody>
                    <a:bodyPr wrap="square"/>
                    <a:lstStyle/>
                    <a:p>
                      <a:pPr algn="l"/>
                      <a:r>
                        <a:rPr sz="1300" b="1">
                          <a:solidFill>
                            <a:srgbClr val="1B2437"/>
                          </a:solidFill>
                          <a:latin typeface="Malgun Gothic"/>
                          <a:ea typeface="Malgun Gothic"/>
                          <a:cs typeface="Malgun Gothic"/>
                        </a:rPr>
                        <a:t>설계 원칙</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300" b="1">
                          <a:solidFill>
                            <a:srgbClr val="1B2437"/>
                          </a:solidFill>
                          <a:latin typeface="Malgun Gothic"/>
                          <a:ea typeface="Malgun Gothic"/>
                          <a:cs typeface="Malgun Gothic"/>
                        </a:rPr>
                        <a:t>내용</a:t>
                      </a:r>
                    </a:p>
                  </a:txBody>
                  <a:tcPr marL="91440" marR="91440" marT="36576" marB="36576" anchor="ctr">
                    <a:lnL w="0">
                      <a:noFill/>
                    </a:lnL>
                    <a:lnR w="0">
                      <a:noFill/>
                    </a:lnR>
                    <a:lnT w="0">
                      <a:noFill/>
                    </a:lnT>
                    <a:lnB w="9525" cap="flat" cmpd="sng" algn="ctr">
                      <a:solidFill>
                        <a:srgbClr val="DDE2EC"/>
                      </a:solidFill>
                    </a:lnB>
                    <a:solidFill>
                      <a:srgbClr val="F3F5F9"/>
                    </a:solidFill>
                  </a:tcPr>
                </a:tc>
              </a:tr>
              <a:tr h="438912">
                <a:tc>
                  <a:txBody>
                    <a:bodyPr wrap="square"/>
                    <a:lstStyle/>
                    <a:p>
                      <a:pPr algn="l"/>
                      <a:r>
                        <a:rPr sz="1300" b="1">
                          <a:solidFill>
                            <a:srgbClr val="1B2437"/>
                          </a:solidFill>
                          <a:latin typeface="Malgun Gothic"/>
                          <a:ea typeface="Malgun Gothic"/>
                          <a:cs typeface="Malgun Gothic"/>
                        </a:rPr>
                        <a:t>다음 노드</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조건 함수가 정한다 (add_conditional_edges)</a:t>
                      </a:r>
                    </a:p>
                  </a:txBody>
                  <a:tcPr marL="91440" marR="91440" marT="36576" marB="36576" anchor="ctr">
                    <a:lnL w="0">
                      <a:noFill/>
                    </a:lnL>
                    <a:lnR w="0">
                      <a:noFill/>
                    </a:lnR>
                    <a:lnT w="0">
                      <a:noFill/>
                    </a:lnT>
                    <a:lnB w="9525" cap="flat" cmpd="sng" algn="ctr">
                      <a:solidFill>
                        <a:srgbClr val="DDE2EC"/>
                      </a:solidFill>
                    </a:lnB>
                    <a:solidFill>
                      <a:srgbClr val="FFFFFF"/>
                    </a:solidFill>
                  </a:tcPr>
                </a:tc>
              </a:tr>
              <a:tr h="438912">
                <a:tc>
                  <a:txBody>
                    <a:bodyPr wrap="square"/>
                    <a:lstStyle/>
                    <a:p>
                      <a:pPr algn="l"/>
                      <a:r>
                        <a:rPr sz="1300" b="1">
                          <a:solidFill>
                            <a:srgbClr val="1B2437"/>
                          </a:solidFill>
                          <a:latin typeface="Malgun Gothic"/>
                          <a:ea typeface="Malgun Gothic"/>
                          <a:cs typeface="Malgun Gothic"/>
                        </a:rPr>
                        <a:t>LLM 판단</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분류 · 판정 · 검색어 재작성, 세 곳</a:t>
                      </a:r>
                    </a:p>
                  </a:txBody>
                  <a:tcPr marL="91440" marR="91440" marT="36576" marB="36576" anchor="ctr">
                    <a:lnL w="0">
                      <a:noFill/>
                    </a:lnL>
                    <a:lnR w="0">
                      <a:noFill/>
                    </a:lnR>
                    <a:lnT w="0">
                      <a:noFill/>
                    </a:lnT>
                    <a:lnB w="9525" cap="flat" cmpd="sng" algn="ctr">
                      <a:solidFill>
                        <a:srgbClr val="DDE2EC"/>
                      </a:solidFill>
                    </a:lnB>
                    <a:solidFill>
                      <a:srgbClr val="FFFFFF"/>
                    </a:solidFill>
                  </a:tcPr>
                </a:tc>
              </a:tr>
              <a:tr h="438912">
                <a:tc>
                  <a:txBody>
                    <a:bodyPr wrap="square"/>
                    <a:lstStyle/>
                    <a:p>
                      <a:pPr algn="l"/>
                      <a:r>
                        <a:rPr sz="1300" b="1">
                          <a:solidFill>
                            <a:srgbClr val="1B2437"/>
                          </a:solidFill>
                          <a:latin typeface="Malgun Gothic"/>
                          <a:ea typeface="Malgun Gothic"/>
                          <a:cs typeface="Malgun Gothic"/>
                        </a:rPr>
                        <a:t>인용·시각</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코드가 원본 cue에서 생성, LLM은 쓰지 않음</a:t>
                      </a:r>
                    </a:p>
                  </a:txBody>
                  <a:tcPr marL="91440" marR="91440" marT="36576" marB="36576" anchor="ctr">
                    <a:lnL w="0">
                      <a:noFill/>
                    </a:lnL>
                    <a:lnR w="0">
                      <a:noFill/>
                    </a:lnR>
                    <a:lnT w="0">
                      <a:noFill/>
                    </a:lnT>
                    <a:lnB w="9525" cap="flat" cmpd="sng" algn="ctr">
                      <a:solidFill>
                        <a:srgbClr val="DDE2EC"/>
                      </a:solidFill>
                    </a:lnB>
                    <a:solidFill>
                      <a:srgbClr val="FFFFFF"/>
                    </a:solidFill>
                  </a:tcPr>
                </a:tc>
              </a:tr>
              <a:tr h="438912">
                <a:tc>
                  <a:txBody>
                    <a:bodyPr wrap="square"/>
                    <a:lstStyle/>
                    <a:p>
                      <a:pPr algn="l"/>
                      <a:r>
                        <a:rPr sz="1300" b="1">
                          <a:solidFill>
                            <a:srgbClr val="1B2437"/>
                          </a:solidFill>
                          <a:latin typeface="Malgun Gothic"/>
                          <a:ea typeface="Malgun Gothic"/>
                          <a:cs typeface="Malgun Gothic"/>
                        </a:rPr>
                        <a:t>구조</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단일 Agent 워크플로 (Multi-Agent 미구현)</a:t>
                      </a:r>
                    </a:p>
                  </a:txBody>
                  <a:tcPr marL="91440" marR="91440" marT="36576" marB="36576" anchor="ctr">
                    <a:lnL w="0">
                      <a:noFill/>
                    </a:lnL>
                    <a:lnR w="0">
                      <a:noFill/>
                    </a:lnR>
                    <a:lnT w="0">
                      <a:noFill/>
                    </a:lnT>
                    <a:lnB w="9525" cap="flat" cmpd="sng" algn="ctr">
                      <a:solidFill>
                        <a:srgbClr val="DDE2EC"/>
                      </a:solidFill>
                    </a:lnB>
                    <a:solidFill>
                      <a:srgbClr val="FFFFFF"/>
                    </a:solidFill>
                  </a:tcPr>
                </a:tc>
              </a:tr>
              <a:tr h="438912">
                <a:tc>
                  <a:txBody>
                    <a:bodyPr wrap="square"/>
                    <a:lstStyle/>
                    <a:p>
                      <a:pPr algn="l"/>
                      <a:r>
                        <a:rPr sz="1300" b="1">
                          <a:solidFill>
                            <a:srgbClr val="1B2437"/>
                          </a:solidFill>
                          <a:latin typeface="Malgun Gothic"/>
                          <a:ea typeface="Malgun Gothic"/>
                          <a:cs typeface="Malgun Gothic"/>
                        </a:rPr>
                        <a:t>상한</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재검색 2번 · LLM 20초 · 전체 60초</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
        <p:nvSpPr>
          <p:cNvPr id="7" name="Rounded Rectangle 6"/>
          <p:cNvSpPr/>
          <p:nvPr/>
        </p:nvSpPr>
        <p:spPr>
          <a:xfrm>
            <a:off x="6263640" y="1371600"/>
            <a:ext cx="5486400" cy="4663440"/>
          </a:xfrm>
          <a:prstGeom prst="roundRect">
            <a:avLst>
              <a:gd name="adj" fmla="val 25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36192"/>
            <a:ext cx="5120640" cy="4334255"/>
          </a:xfrm>
          <a:prstGeom prst="rect">
            <a:avLst/>
          </a:prstGeom>
          <a:noFill/>
        </p:spPr>
        <p:txBody>
          <a:bodyPr wrap="square" anchor="t" lIns="0" rIns="0" tIns="0" bIns="0">
            <a:spAutoFit/>
          </a:bodyPr>
          <a:lstStyle/>
          <a:p>
            <a:pPr algn="l">
              <a:lnSpc>
                <a:spcPct val="108000"/>
              </a:lnSpc>
              <a:spcAft>
                <a:spcPts val="0"/>
              </a:spcAft>
            </a:pPr>
            <a:r>
              <a:rPr sz="1300" b="0">
                <a:solidFill>
                  <a:srgbClr val="E6E9F2"/>
                </a:solidFill>
                <a:latin typeface="Consolas"/>
                <a:ea typeface="Consolas"/>
                <a:cs typeface="Consolas"/>
              </a:rPr>
              <a:t>graph = StateGraph(FinderState)</a:t>
            </a:r>
          </a:p>
          <a:p>
            <a:pPr algn="l">
              <a:lnSpc>
                <a:spcPct val="108000"/>
              </a:lnSpc>
              <a:spcAft>
                <a:spcPts val="0"/>
              </a:spcAft>
            </a:pPr>
            <a:r>
              <a:rPr sz="1300" b="0">
                <a:solidFill>
                  <a:srgbClr val="E6E9F2"/>
                </a:solidFill>
                <a:latin typeface="Consolas"/>
                <a:ea typeface="Consolas"/>
                <a:cs typeface="Consolas"/>
              </a:rPr>
              <a:t>for name in ['router', 'search', 'context',</a:t>
            </a:r>
          </a:p>
          <a:p>
            <a:pPr algn="l">
              <a:lnSpc>
                <a:spcPct val="108000"/>
              </a:lnSpc>
              <a:spcAft>
                <a:spcPts val="0"/>
              </a:spcAft>
            </a:pPr>
            <a:r>
              <a:rPr sz="1300" b="0">
                <a:solidFill>
                  <a:srgbClr val="E6E9F2"/>
                </a:solidFill>
                <a:latin typeface="Consolas"/>
                <a:ea typeface="Consolas"/>
                <a:cs typeface="Consolas"/>
              </a:rPr>
              <a:t>             'verification', 'replan', 'finalize']:</a:t>
            </a:r>
          </a:p>
          <a:p>
            <a:pPr algn="l">
              <a:lnSpc>
                <a:spcPct val="108000"/>
              </a:lnSpc>
              <a:spcAft>
                <a:spcPts val="0"/>
              </a:spcAft>
            </a:pPr>
            <a:r>
              <a:rPr sz="1300" b="0">
                <a:solidFill>
                  <a:srgbClr val="E6E9F2"/>
                </a:solidFill>
                <a:latin typeface="Consolas"/>
                <a:ea typeface="Consolas"/>
                <a:cs typeface="Consolas"/>
              </a:rPr>
              <a:t>    graph.add_node(name, self._node(name))</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9DB7FF"/>
                </a:solidFill>
                <a:latin typeface="Consolas"/>
                <a:ea typeface="Consolas"/>
                <a:cs typeface="Consolas"/>
              </a:rPr>
              <a:t>graph.add_conditional_edges('router',</a:t>
            </a:r>
          </a:p>
          <a:p>
            <a:pPr algn="l">
              <a:lnSpc>
                <a:spcPct val="108000"/>
              </a:lnSpc>
              <a:spcAft>
                <a:spcPts val="0"/>
              </a:spcAft>
            </a:pPr>
            <a:r>
              <a:rPr sz="1300" b="0">
                <a:solidFill>
                  <a:srgbClr val="E6E9F2"/>
                </a:solidFill>
                <a:latin typeface="Consolas"/>
                <a:ea typeface="Consolas"/>
                <a:cs typeface="Consolas"/>
              </a:rPr>
              <a:t>    lambda s: 'finalize' if s['intent'] in</a:t>
            </a:r>
          </a:p>
          <a:p>
            <a:pPr algn="l">
              <a:lnSpc>
                <a:spcPct val="108000"/>
              </a:lnSpc>
              <a:spcAft>
                <a:spcPts val="0"/>
              </a:spcAft>
            </a:pPr>
            <a:r>
              <a:rPr sz="1300" b="0">
                <a:solidFill>
                  <a:srgbClr val="E6E9F2"/>
                </a:solidFill>
                <a:latin typeface="Consolas"/>
                <a:ea typeface="Consolas"/>
                <a:cs typeface="Consolas"/>
              </a:rPr>
              <a:t>              {'unsupported', 'chat'} else 'search')</a:t>
            </a:r>
          </a:p>
          <a:p>
            <a:pPr algn="l">
              <a:lnSpc>
                <a:spcPct val="108000"/>
              </a:lnSpc>
              <a:spcAft>
                <a:spcPts val="0"/>
              </a:spcAft>
            </a:pPr>
            <a:r>
              <a:rPr sz="1300" b="0">
                <a:solidFill>
                  <a:srgbClr val="9DB7FF"/>
                </a:solidFill>
                <a:latin typeface="Consolas"/>
                <a:ea typeface="Consolas"/>
                <a:cs typeface="Consolas"/>
              </a:rPr>
              <a:t>graph.add_conditional_edges('verification',</a:t>
            </a:r>
          </a:p>
          <a:p>
            <a:pPr algn="l">
              <a:lnSpc>
                <a:spcPct val="108000"/>
              </a:lnSpc>
              <a:spcAft>
                <a:spcPts val="0"/>
              </a:spcAft>
            </a:pPr>
            <a:r>
              <a:rPr sz="1300" b="0">
                <a:solidFill>
                  <a:srgbClr val="E6E9F2"/>
                </a:solidFill>
                <a:latin typeface="Consolas"/>
                <a:ea typeface="Consolas"/>
                <a:cs typeface="Consolas"/>
              </a:rPr>
              <a:t>                            self._after_verification)</a:t>
            </a:r>
          </a:p>
          <a:p>
            <a:pPr algn="l">
              <a:lnSpc>
                <a:spcPct val="108000"/>
              </a:lnSpc>
              <a:spcAft>
                <a:spcPts val="0"/>
              </a:spcAft>
            </a:pPr>
            <a:r>
              <a:rPr sz="1300" b="0">
                <a:solidFill>
                  <a:srgbClr val="9DB7FF"/>
                </a:solidFill>
                <a:latin typeface="Consolas"/>
                <a:ea typeface="Consolas"/>
                <a:cs typeface="Consolas"/>
              </a:rPr>
              <a:t>graph.add_conditional_edges('replan',</a:t>
            </a:r>
          </a:p>
          <a:p>
            <a:pPr algn="l">
              <a:lnSpc>
                <a:spcPct val="108000"/>
              </a:lnSpc>
              <a:spcAft>
                <a:spcPts val="0"/>
              </a:spcAft>
            </a:pPr>
            <a:r>
              <a:rPr sz="1300" b="0">
                <a:solidFill>
                  <a:srgbClr val="E6E9F2"/>
                </a:solidFill>
                <a:latin typeface="Consolas"/>
                <a:ea typeface="Consolas"/>
                <a:cs typeface="Consolas"/>
              </a:rPr>
              <a:t>    lambda s: 'finalize' if s.get('stop_replan')</a:t>
            </a:r>
          </a:p>
          <a:p>
            <a:pPr algn="l">
              <a:lnSpc>
                <a:spcPct val="108000"/>
              </a:lnSpc>
              <a:spcAft>
                <a:spcPts val="0"/>
              </a:spcAft>
            </a:pPr>
            <a:r>
              <a:rPr sz="1300" b="0">
                <a:solidFill>
                  <a:srgbClr val="E6E9F2"/>
                </a:solidFill>
                <a:latin typeface="Consolas"/>
                <a:ea typeface="Consolas"/>
                <a:cs typeface="Consolas"/>
              </a:rPr>
              <a:t>              else 'search')</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9DB7FF"/>
                </a:solidFill>
                <a:latin typeface="Consolas"/>
                <a:ea typeface="Consolas"/>
                <a:cs typeface="Consolas"/>
              </a:rPr>
              <a:t>def _after_verification(self, state):</a:t>
            </a:r>
          </a:p>
          <a:p>
            <a:pPr algn="l">
              <a:lnSpc>
                <a:spcPct val="108000"/>
              </a:lnSpc>
              <a:spcAft>
                <a:spcPts val="0"/>
              </a:spcAft>
            </a:pPr>
            <a:r>
              <a:rPr sz="1300" b="0">
                <a:solidFill>
                  <a:srgbClr val="9DB7FF"/>
                </a:solidFill>
                <a:latin typeface="Consolas"/>
                <a:ea typeface="Consolas"/>
                <a:cs typeface="Consolas"/>
              </a:rPr>
              <a:t>    return 'replan' if state.get('can_replan') \</a:t>
            </a:r>
          </a:p>
          <a:p>
            <a:pPr algn="l">
              <a:lnSpc>
                <a:spcPct val="108000"/>
              </a:lnSpc>
              <a:spcAft>
                <a:spcPts val="0"/>
              </a:spcAft>
            </a:pPr>
            <a:r>
              <a:rPr sz="1300" b="0">
                <a:solidFill>
                  <a:srgbClr val="9DB7FF"/>
                </a:solidFill>
                <a:latin typeface="Consolas"/>
                <a:ea typeface="Consolas"/>
                <a:cs typeface="Consolas"/>
              </a:rPr>
              <a:t>           else 'finalize'</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9DB7FF"/>
                </a:solidFill>
                <a:latin typeface="Consolas"/>
                <a:ea typeface="Consolas"/>
                <a:cs typeface="Consolas"/>
              </a:rPr>
              <a:t>MAX_REPLAN_ROUNDS = 2</a:t>
            </a:r>
          </a:p>
        </p:txBody>
      </p:sp>
      <p:sp>
        <p:nvSpPr>
          <p:cNvPr id="9" name="TextBox 8"/>
          <p:cNvSpPr txBox="1"/>
          <p:nvPr/>
        </p:nvSpPr>
        <p:spPr>
          <a:xfrm>
            <a:off x="6263640" y="6089903"/>
            <a:ext cx="5486400" cy="274320"/>
          </a:xfrm>
          <a:prstGeom prst="rect">
            <a:avLst/>
          </a:prstGeom>
          <a:noFill/>
        </p:spPr>
        <p:txBody>
          <a:bodyPr wrap="square" anchor="t" lIns="0" rIns="0" tIns="0" bIns="0">
            <a:spAutoFit/>
          </a:bodyPr>
          <a:lstStyle/>
          <a:p>
            <a:pPr algn="l"/>
            <a:r>
              <a:rPr sz="1100" b="0">
                <a:solidFill>
                  <a:srgbClr val="5B6577"/>
                </a:solidFill>
                <a:latin typeface="Malgun Gothic"/>
                <a:ea typeface="Malgun Gothic"/>
                <a:cs typeface="Malgun Gothic"/>
              </a:rPr>
              <a:t>backend/app/agent/graph.py (발췌, 줄 바꿈만 조정)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MCP: 자막은 도구로만 접근하고, 검증은 원본 cue로 다시 한다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6</a:t>
            </a:r>
          </a:p>
        </p:txBody>
      </p:sp>
      <p:graphicFrame>
        <p:nvGraphicFramePr>
          <p:cNvPr id="5" name="Table 4"/>
          <p:cNvGraphicFramePr>
            <a:graphicFrameLocks noGrp="1"/>
          </p:cNvGraphicFramePr>
          <p:nvPr/>
        </p:nvGraphicFramePr>
        <p:xfrm>
          <a:off x="548640" y="1463040"/>
          <a:ext cx="5669280" cy="2560320"/>
        </p:xfrm>
        <a:graphic>
          <a:graphicData uri="http://schemas.openxmlformats.org/drawingml/2006/table">
            <a:tbl>
              <a:tblPr firstRow="1" bandRow="0">
                <a:tableStyleId>{5C22544A-7EE6-4342-B048-85BDC9FD1C3A}</a:tableStyleId>
              </a:tblPr>
              <a:tblGrid>
                <a:gridCol w="2651760"/>
                <a:gridCol w="3017520"/>
              </a:tblGrid>
              <a:tr h="512064">
                <a:tc>
                  <a:txBody>
                    <a:bodyPr wrap="square"/>
                    <a:lstStyle/>
                    <a:p>
                      <a:pPr algn="l"/>
                      <a:r>
                        <a:rPr sz="1600" b="1">
                          <a:solidFill>
                            <a:srgbClr val="1B2437"/>
                          </a:solidFill>
                          <a:latin typeface="Malgun Gothic"/>
                          <a:ea typeface="Malgun Gothic"/>
                          <a:cs typeface="Malgun Gothic"/>
                        </a:rPr>
                        <a:t>도구</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600" b="1">
                          <a:solidFill>
                            <a:srgbClr val="1B2437"/>
                          </a:solidFill>
                          <a:latin typeface="Malgun Gothic"/>
                          <a:ea typeface="Malgun Gothic"/>
                          <a:cs typeface="Malgun Gothic"/>
                        </a:rPr>
                        <a:t>쓰는 곳</a:t>
                      </a:r>
                    </a:p>
                  </a:txBody>
                  <a:tcPr marL="91440" marR="91440" marT="36576" marB="36576" anchor="ctr">
                    <a:lnL w="0">
                      <a:noFill/>
                    </a:lnL>
                    <a:lnR w="0">
                      <a:noFill/>
                    </a:lnR>
                    <a:lnT w="0">
                      <a:noFill/>
                    </a:lnT>
                    <a:lnB w="9525" cap="flat" cmpd="sng" algn="ctr">
                      <a:solidFill>
                        <a:srgbClr val="DDE2EC"/>
                      </a:solidFill>
                    </a:lnB>
                    <a:solidFill>
                      <a:srgbClr val="F3F5F9"/>
                    </a:solidFill>
                  </a:tcPr>
                </a:tc>
              </a:tr>
              <a:tr h="512064">
                <a:tc>
                  <a:txBody>
                    <a:bodyPr wrap="square"/>
                    <a:lstStyle/>
                    <a:p>
                      <a:pPr algn="l"/>
                      <a:r>
                        <a:rPr sz="1600" b="0">
                          <a:solidFill>
                            <a:srgbClr val="1B2437"/>
                          </a:solidFill>
                          <a:latin typeface="Malgun Gothic"/>
                          <a:ea typeface="Malgun Gothic"/>
                          <a:cs typeface="Malgun Gothic"/>
                        </a:rPr>
                        <a:t>search_transcripts</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600" b="0">
                          <a:solidFill>
                            <a:srgbClr val="1B2437"/>
                          </a:solidFill>
                          <a:latin typeface="Malgun Gothic"/>
                          <a:ea typeface="Malgun Gothic"/>
                          <a:cs typeface="Malgun Gothic"/>
                        </a:rPr>
                        <a:t>Agent · 검색 단계</a:t>
                      </a:r>
                    </a:p>
                  </a:txBody>
                  <a:tcPr marL="91440" marR="91440" marT="36576" marB="36576" anchor="ctr">
                    <a:lnL w="0">
                      <a:noFill/>
                    </a:lnL>
                    <a:lnR w="0">
                      <a:noFill/>
                    </a:lnR>
                    <a:lnT w="0">
                      <a:noFill/>
                    </a:lnT>
                    <a:lnB w="9525" cap="flat" cmpd="sng" algn="ctr">
                      <a:solidFill>
                        <a:srgbClr val="DDE2EC"/>
                      </a:solidFill>
                    </a:lnB>
                    <a:solidFill>
                      <a:srgbClr val="E8EEFC"/>
                    </a:solidFill>
                  </a:tcPr>
                </a:tc>
              </a:tr>
              <a:tr h="512064">
                <a:tc>
                  <a:txBody>
                    <a:bodyPr wrap="square"/>
                    <a:lstStyle/>
                    <a:p>
                      <a:pPr algn="l"/>
                      <a:r>
                        <a:rPr sz="1600" b="0">
                          <a:solidFill>
                            <a:srgbClr val="1B2437"/>
                          </a:solidFill>
                          <a:latin typeface="Malgun Gothic"/>
                          <a:ea typeface="Malgun Gothic"/>
                          <a:cs typeface="Malgun Gothic"/>
                        </a:rPr>
                        <a:t>get_scene_context</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600" b="0">
                          <a:solidFill>
                            <a:srgbClr val="1B2437"/>
                          </a:solidFill>
                          <a:latin typeface="Malgun Gothic"/>
                          <a:ea typeface="Malgun Gothic"/>
                          <a:cs typeface="Malgun Gothic"/>
                        </a:rPr>
                        <a:t>Agent · 원본 대조</a:t>
                      </a:r>
                    </a:p>
                  </a:txBody>
                  <a:tcPr marL="91440" marR="91440" marT="36576" marB="36576" anchor="ctr">
                    <a:lnL w="0">
                      <a:noFill/>
                    </a:lnL>
                    <a:lnR w="0">
                      <a:noFill/>
                    </a:lnR>
                    <a:lnT w="0">
                      <a:noFill/>
                    </a:lnT>
                    <a:lnB w="9525" cap="flat" cmpd="sng" algn="ctr">
                      <a:solidFill>
                        <a:srgbClr val="DDE2EC"/>
                      </a:solidFill>
                    </a:lnB>
                    <a:solidFill>
                      <a:srgbClr val="E8EEFC"/>
                    </a:solidFill>
                  </a:tcPr>
                </a:tc>
              </a:tr>
              <a:tr h="512064">
                <a:tc>
                  <a:txBody>
                    <a:bodyPr wrap="square"/>
                    <a:lstStyle/>
                    <a:p>
                      <a:pPr algn="l"/>
                      <a:r>
                        <a:rPr sz="1600" b="0">
                          <a:solidFill>
                            <a:srgbClr val="1B2437"/>
                          </a:solidFill>
                          <a:latin typeface="Malgun Gothic"/>
                          <a:ea typeface="Malgun Gothic"/>
                          <a:cs typeface="Malgun Gothic"/>
                        </a:rPr>
                        <a:t>get_video_metadata</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600" b="0">
                          <a:solidFill>
                            <a:srgbClr val="1B2437"/>
                          </a:solidFill>
                          <a:latin typeface="Malgun Gothic"/>
                          <a:ea typeface="Malgun Gothic"/>
                          <a:cs typeface="Malgun Gothic"/>
                        </a:rPr>
                        <a:t>API 서버 · 시작 시</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600" b="0">
                          <a:solidFill>
                            <a:srgbClr val="1B2437"/>
                          </a:solidFill>
                          <a:latin typeface="Malgun Gothic"/>
                          <a:ea typeface="Malgun Gothic"/>
                          <a:cs typeface="Malgun Gothic"/>
                        </a:rPr>
                        <a:t>get_cue_neighbors</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600" b="0">
                          <a:solidFill>
                            <a:srgbClr val="1B2437"/>
                          </a:solidFill>
                          <a:latin typeface="Malgun Gothic"/>
                          <a:ea typeface="Malgun Gothic"/>
                          <a:cs typeface="Malgun Gothic"/>
                        </a:rPr>
                        <a:t>화면 · 앞뒤 자막</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graphicFrame>
        <p:nvGraphicFramePr>
          <p:cNvPr id="6" name="Table 5"/>
          <p:cNvGraphicFramePr>
            <a:graphicFrameLocks noGrp="1"/>
          </p:cNvGraphicFramePr>
          <p:nvPr/>
        </p:nvGraphicFramePr>
        <p:xfrm>
          <a:off x="548640" y="4251960"/>
          <a:ext cx="5669280" cy="1828800"/>
        </p:xfrm>
        <a:graphic>
          <a:graphicData uri="http://schemas.openxmlformats.org/drawingml/2006/table">
            <a:tbl>
              <a:tblPr firstRow="1" bandRow="0">
                <a:tableStyleId>{5C22544A-7EE6-4342-B048-85BDC9FD1C3A}</a:tableStyleId>
              </a:tblPr>
              <a:tblGrid>
                <a:gridCol w="2377440"/>
                <a:gridCol w="3291840"/>
              </a:tblGrid>
              <a:tr h="457200">
                <a:tc>
                  <a:txBody>
                    <a:bodyPr wrap="square"/>
                    <a:lstStyle/>
                    <a:p>
                      <a:pPr algn="l"/>
                      <a:r>
                        <a:rPr sz="1300" b="1">
                          <a:solidFill>
                            <a:srgbClr val="1B2437"/>
                          </a:solidFill>
                          <a:latin typeface="Malgun Gothic"/>
                          <a:ea typeface="Malgun Gothic"/>
                          <a:cs typeface="Malgun Gothic"/>
                        </a:rPr>
                        <a:t>원칙</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300" b="1">
                          <a:solidFill>
                            <a:srgbClr val="1B2437"/>
                          </a:solidFill>
                          <a:latin typeface="Malgun Gothic"/>
                          <a:ea typeface="Malgun Gothic"/>
                          <a:cs typeface="Malgun Gothic"/>
                        </a:rPr>
                        <a:t>내용</a:t>
                      </a:r>
                    </a:p>
                  </a:txBody>
                  <a:tcPr marL="91440" marR="91440" marT="36576" marB="36576" anchor="ctr">
                    <a:lnL w="0">
                      <a:noFill/>
                    </a:lnL>
                    <a:lnR w="0">
                      <a:noFill/>
                    </a:lnR>
                    <a:lnT w="0">
                      <a:noFill/>
                    </a:lnT>
                    <a:lnB w="9525" cap="flat" cmpd="sng" algn="ctr">
                      <a:solidFill>
                        <a:srgbClr val="DDE2EC"/>
                      </a:solidFill>
                    </a:lnB>
                    <a:solidFill>
                      <a:srgbClr val="F3F5F9"/>
                    </a:solidFill>
                  </a:tcPr>
                </a:tc>
              </a:tr>
              <a:tr h="457200">
                <a:tc>
                  <a:txBody>
                    <a:bodyPr wrap="square"/>
                    <a:lstStyle/>
                    <a:p>
                      <a:pPr algn="l"/>
                      <a:r>
                        <a:rPr sz="1300" b="1">
                          <a:solidFill>
                            <a:srgbClr val="1B2437"/>
                          </a:solidFill>
                          <a:latin typeface="Malgun Gothic"/>
                          <a:ea typeface="Malgun Gothic"/>
                          <a:cs typeface="Malgun Gothic"/>
                        </a:rPr>
                        <a:t>공식 MCP SDK 2.x</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로컬 프로세스, stdio 통신</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300" b="1">
                          <a:solidFill>
                            <a:srgbClr val="1B2437"/>
                          </a:solidFill>
                          <a:latin typeface="Malgun Gothic"/>
                          <a:ea typeface="Malgun Gothic"/>
                          <a:cs typeface="Malgun Gothic"/>
                        </a:rPr>
                        <a:t>읽기 전용</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파일 경로를 인자로 받지 않는다</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300" b="1">
                          <a:solidFill>
                            <a:srgbClr val="1B2437"/>
                          </a:solidFill>
                          <a:latin typeface="Malgun Gothic"/>
                          <a:ea typeface="Malgun Gothic"/>
                          <a:cs typeface="Malgun Gothic"/>
                        </a:rPr>
                        <a:t>검색 결과를 믿지 않는다</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300" b="0">
                          <a:solidFill>
                            <a:srgbClr val="1B2437"/>
                          </a:solidFill>
                          <a:latin typeface="Malgun Gothic"/>
                          <a:ea typeface="Malgun Gothic"/>
                          <a:cs typeface="Malgun Gothic"/>
                        </a:rPr>
                        <a:t>인용·시각은 원본 cue로 다시 확인</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
        <p:nvSpPr>
          <p:cNvPr id="7" name="Rounded Rectangle 6"/>
          <p:cNvSpPr/>
          <p:nvPr/>
        </p:nvSpPr>
        <p:spPr>
          <a:xfrm>
            <a:off x="6446520" y="1371600"/>
            <a:ext cx="5303520" cy="4663440"/>
          </a:xfrm>
          <a:prstGeom prst="roundRect">
            <a:avLst>
              <a:gd name="adj" fmla="val 25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536192"/>
            <a:ext cx="4937759" cy="4334255"/>
          </a:xfrm>
          <a:prstGeom prst="rect">
            <a:avLst/>
          </a:prstGeom>
          <a:noFill/>
        </p:spPr>
        <p:txBody>
          <a:bodyPr wrap="square" anchor="t" lIns="0" rIns="0" tIns="0" bIns="0">
            <a:spAutoFit/>
          </a:bodyPr>
          <a:lstStyle/>
          <a:p>
            <a:pPr algn="l">
              <a:lnSpc>
                <a:spcPct val="108000"/>
              </a:lnSpc>
              <a:spcAft>
                <a:spcPts val="0"/>
              </a:spcAft>
            </a:pPr>
            <a:r>
              <a:rPr sz="1300" b="0">
                <a:solidFill>
                  <a:srgbClr val="9DB7FF"/>
                </a:solidFill>
                <a:latin typeface="Consolas"/>
                <a:ea typeface="Consolas"/>
                <a:cs typeface="Consolas"/>
              </a:rPr>
              <a:t>@server.tool(structured_output=True)</a:t>
            </a:r>
          </a:p>
          <a:p>
            <a:pPr algn="l">
              <a:lnSpc>
                <a:spcPct val="108000"/>
              </a:lnSpc>
              <a:spcAft>
                <a:spcPts val="0"/>
              </a:spcAft>
            </a:pPr>
            <a:r>
              <a:rPr sz="1300" b="0">
                <a:solidFill>
                  <a:srgbClr val="E6E9F2"/>
                </a:solidFill>
                <a:latin typeface="Consolas"/>
                <a:ea typeface="Consolas"/>
                <a:cs typeface="Consolas"/>
              </a:rPr>
              <a:t>def search_transcripts(</a:t>
            </a:r>
          </a:p>
          <a:p>
            <a:pPr algn="l">
              <a:lnSpc>
                <a:spcPct val="108000"/>
              </a:lnSpc>
              <a:spcAft>
                <a:spcPts val="0"/>
              </a:spcAft>
            </a:pPr>
            <a:r>
              <a:rPr sz="1300" b="0">
                <a:solidFill>
                  <a:srgbClr val="E6E9F2"/>
                </a:solidFill>
                <a:latin typeface="Consolas"/>
                <a:ea typeface="Consolas"/>
                <a:cs typeface="Consolas"/>
              </a:rPr>
              <a:t>        query: str, mode='hybrid',</a:t>
            </a:r>
          </a:p>
          <a:p>
            <a:pPr algn="l">
              <a:lnSpc>
                <a:spcPct val="108000"/>
              </a:lnSpc>
              <a:spcAft>
                <a:spcPts val="0"/>
              </a:spcAft>
            </a:pPr>
            <a:r>
              <a:rPr sz="1300" b="0">
                <a:solidFill>
                  <a:srgbClr val="E6E9F2"/>
                </a:solidFill>
                <a:latin typeface="Consolas"/>
                <a:ea typeface="Consolas"/>
                <a:cs typeface="Consolas"/>
              </a:rPr>
              <a:t>        top_k=3, video_ids=None</a:t>
            </a:r>
          </a:p>
          <a:p>
            <a:pPr algn="l">
              <a:lnSpc>
                <a:spcPct val="108000"/>
              </a:lnSpc>
              <a:spcAft>
                <a:spcPts val="0"/>
              </a:spcAft>
            </a:pPr>
            <a:r>
              <a:rPr sz="1300" b="0">
                <a:solidFill>
                  <a:srgbClr val="E6E9F2"/>
                </a:solidFill>
                <a:latin typeface="Consolas"/>
                <a:ea typeface="Consolas"/>
                <a:cs typeface="Consolas"/>
              </a:rPr>
              <a:t>        ) -&gt; SearchReply:</a:t>
            </a:r>
          </a:p>
          <a:p>
            <a:pPr algn="l">
              <a:lnSpc>
                <a:spcPct val="108000"/>
              </a:lnSpc>
              <a:spcAft>
                <a:spcPts val="0"/>
              </a:spcAft>
            </a:pPr>
            <a:r>
              <a:rPr sz="1300" b="0">
                <a:solidFill>
                  <a:srgbClr val="E6E9F2"/>
                </a:solidFill>
                <a:latin typeface="Consolas"/>
                <a:ea typeface="Consolas"/>
                <a:cs typeface="Consolas"/>
              </a:rPr>
              <a:t>    """Search registered transcripts.</a:t>
            </a:r>
          </a:p>
          <a:p>
            <a:pPr algn="l">
              <a:lnSpc>
                <a:spcPct val="108000"/>
              </a:lnSpc>
              <a:spcAft>
                <a:spcPts val="0"/>
              </a:spcAft>
            </a:pPr>
            <a:r>
              <a:rPr sz="1300" b="0">
                <a:solidFill>
                  <a:srgbClr val="E6E9F2"/>
                </a:solidFill>
                <a:latin typeface="Consolas"/>
                <a:ea typeface="Consolas"/>
                <a:cs typeface="Consolas"/>
              </a:rPr>
              <a:t>    Returns cue-linked candidates,</a:t>
            </a:r>
          </a:p>
          <a:p>
            <a:pPr algn="l">
              <a:lnSpc>
                <a:spcPct val="108000"/>
              </a:lnSpc>
              <a:spcAft>
                <a:spcPts val="0"/>
              </a:spcAft>
            </a:pPr>
            <a:r>
              <a:rPr sz="1300" b="0">
                <a:solidFill>
                  <a:srgbClr val="E6E9F2"/>
                </a:solidFill>
                <a:latin typeface="Consolas"/>
                <a:ea typeface="Consolas"/>
                <a:cs typeface="Consolas"/>
              </a:rPr>
              <a:t>    not answers."""</a:t>
            </a:r>
          </a:p>
          <a:p>
            <a:pPr algn="l">
              <a:lnSpc>
                <a:spcPct val="108000"/>
              </a:lnSpc>
              <a:spcAft>
                <a:spcPts val="0"/>
              </a:spcAft>
            </a:pPr>
            <a:r>
              <a:rPr sz="1300" b="0">
                <a:solidFill>
                  <a:srgbClr val="9DB7FF"/>
                </a:solidFill>
                <a:latin typeface="Consolas"/>
                <a:ea typeface="Consolas"/>
                <a:cs typeface="Consolas"/>
              </a:rPr>
              <a:t>    with search_gate.acquire():</a:t>
            </a:r>
          </a:p>
          <a:p>
            <a:pPr algn="l">
              <a:lnSpc>
                <a:spcPct val="108000"/>
              </a:lnSpc>
              <a:spcAft>
                <a:spcPts val="0"/>
              </a:spcAft>
            </a:pPr>
            <a:r>
              <a:rPr sz="1300" b="0">
                <a:solidFill>
                  <a:srgbClr val="E6E9F2"/>
                </a:solidFill>
                <a:latin typeface="Consolas"/>
                <a:ea typeface="Consolas"/>
                <a:cs typeface="Consolas"/>
              </a:rPr>
              <a:t>        _, retriever = resources()</a:t>
            </a:r>
          </a:p>
          <a:p>
            <a:pPr algn="l">
              <a:lnSpc>
                <a:spcPct val="108000"/>
              </a:lnSpc>
              <a:spcAft>
                <a:spcPts val="0"/>
              </a:spcAft>
            </a:pPr>
            <a:r>
              <a:rPr sz="1300" b="0">
                <a:solidFill>
                  <a:srgbClr val="E6E9F2"/>
                </a:solidFill>
                <a:latin typeface="Consolas"/>
                <a:ea typeface="Consolas"/>
                <a:cs typeface="Consolas"/>
              </a:rPr>
              <a:t>        return retriever.search(</a:t>
            </a:r>
          </a:p>
          <a:p>
            <a:pPr algn="l">
              <a:lnSpc>
                <a:spcPct val="108000"/>
              </a:lnSpc>
              <a:spcAft>
                <a:spcPts val="0"/>
              </a:spcAft>
            </a:pPr>
            <a:r>
              <a:rPr sz="1300" b="0">
                <a:solidFill>
                  <a:srgbClr val="E6E9F2"/>
                </a:solidFill>
                <a:latin typeface="Consolas"/>
                <a:ea typeface="Consolas"/>
                <a:cs typeface="Consolas"/>
              </a:rPr>
              <a:t>            query, mode, top_k, video_ids)</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8FA1C7"/>
                </a:solidFill>
                <a:latin typeface="Consolas"/>
                <a:ea typeface="Consolas"/>
                <a:cs typeface="Consolas"/>
              </a:rPr>
              <a:t># Agent verifies each candidate by</a:t>
            </a:r>
          </a:p>
          <a:p>
            <a:pPr algn="l">
              <a:lnSpc>
                <a:spcPct val="108000"/>
              </a:lnSpc>
              <a:spcAft>
                <a:spcPts val="0"/>
              </a:spcAft>
            </a:pPr>
            <a:r>
              <a:rPr sz="1300" b="0">
                <a:solidFill>
                  <a:srgbClr val="8FA1C7"/>
                </a:solidFill>
                <a:latin typeface="Consolas"/>
                <a:ea typeface="Consolas"/>
                <a:cs typeface="Consolas"/>
              </a:rPr>
              <a:t># re-reading the source cues:</a:t>
            </a:r>
          </a:p>
          <a:p>
            <a:pPr algn="l">
              <a:lnSpc>
                <a:spcPct val="108000"/>
              </a:lnSpc>
              <a:spcAft>
                <a:spcPts val="0"/>
              </a:spcAft>
            </a:pPr>
            <a:r>
              <a:rPr sz="1300" b="0">
                <a:solidFill>
                  <a:srgbClr val="9DB7FF"/>
                </a:solidFill>
                <a:latin typeface="Consolas"/>
                <a:ea typeface="Consolas"/>
                <a:cs typeface="Consolas"/>
              </a:rPr>
              <a:t>@server.tool(structured_output=True)</a:t>
            </a:r>
          </a:p>
          <a:p>
            <a:pPr algn="l">
              <a:lnSpc>
                <a:spcPct val="108000"/>
              </a:lnSpc>
              <a:spcAft>
                <a:spcPts val="0"/>
              </a:spcAft>
            </a:pPr>
            <a:r>
              <a:rPr sz="1300" b="0">
                <a:solidFill>
                  <a:srgbClr val="9DB7FF"/>
                </a:solidFill>
                <a:latin typeface="Consolas"/>
                <a:ea typeface="Consolas"/>
                <a:cs typeface="Consolas"/>
              </a:rPr>
              <a:t>def get_scene_context(video_id,</a:t>
            </a:r>
          </a:p>
          <a:p>
            <a:pPr algn="l">
              <a:lnSpc>
                <a:spcPct val="108000"/>
              </a:lnSpc>
              <a:spcAft>
                <a:spcPts val="0"/>
              </a:spcAft>
            </a:pPr>
            <a:r>
              <a:rPr sz="1300" b="0">
                <a:solidFill>
                  <a:srgbClr val="E6E9F2"/>
                </a:solidFill>
                <a:latin typeface="Consolas"/>
                <a:ea typeface="Consolas"/>
                <a:cs typeface="Consolas"/>
              </a:rPr>
              <a:t>        start_seconds, window_seconds=20)</a:t>
            </a:r>
          </a:p>
          <a:p>
            <a:pPr algn="l">
              <a:lnSpc>
                <a:spcPct val="108000"/>
              </a:lnSpc>
              <a:spcAft>
                <a:spcPts val="0"/>
              </a:spcAft>
            </a:pPr>
            <a:r>
              <a:rPr sz="1300" b="0">
                <a:solidFill>
                  <a:srgbClr val="E6E9F2"/>
                </a:solidFill>
                <a:latin typeface="Consolas"/>
                <a:ea typeface="Consolas"/>
                <a:cs typeface="Consolas"/>
              </a:rPr>
              <a:t>        -&gt; ContextReply:</a:t>
            </a:r>
          </a:p>
        </p:txBody>
      </p:sp>
      <p:sp>
        <p:nvSpPr>
          <p:cNvPr id="9" name="TextBox 8"/>
          <p:cNvSpPr txBox="1"/>
          <p:nvPr/>
        </p:nvSpPr>
        <p:spPr>
          <a:xfrm>
            <a:off x="6446520" y="6089903"/>
            <a:ext cx="5303520" cy="274320"/>
          </a:xfrm>
          <a:prstGeom prst="rect">
            <a:avLst/>
          </a:prstGeom>
          <a:noFill/>
        </p:spPr>
        <p:txBody>
          <a:bodyPr wrap="square" anchor="t" lIns="0" rIns="0" tIns="0" bIns="0">
            <a:spAutoFit/>
          </a:bodyPr>
          <a:lstStyle/>
          <a:p>
            <a:pPr algn="l"/>
            <a:r>
              <a:rPr sz="1100" b="0">
                <a:solidFill>
                  <a:srgbClr val="5B6577"/>
                </a:solidFill>
                <a:latin typeface="Malgun Gothic"/>
                <a:ea typeface="Malgun Gothic"/>
                <a:cs typeface="Malgun Gothic"/>
              </a:rPr>
              <a:t>backend/app/mcp/server.py (발췌, 타입 표기 단순화)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RAG: 두 검색을 RRF로 합치고 원본 cue로 되돌린다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7</a:t>
            </a:r>
          </a:p>
        </p:txBody>
      </p:sp>
      <p:sp>
        <p:nvSpPr>
          <p:cNvPr id="5" name="Rounded Rectangle 4"/>
          <p:cNvSpPr/>
          <p:nvPr/>
        </p:nvSpPr>
        <p:spPr>
          <a:xfrm>
            <a:off x="548640" y="1463040"/>
            <a:ext cx="5394960" cy="640080"/>
          </a:xfrm>
          <a:prstGeom prst="roundRect">
            <a:avLst>
              <a:gd name="adj" fmla="val 6000"/>
            </a:avLst>
          </a:prstGeom>
          <a:solidFill>
            <a:srgbClr val="F3F5F9"/>
          </a:solidFill>
          <a:ln w="15875">
            <a:solidFill>
              <a:srgbClr val="6B76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63040"/>
            <a:ext cx="5029200" cy="640080"/>
          </a:xfrm>
          <a:prstGeom prst="rect">
            <a:avLst/>
          </a:prstGeom>
          <a:noFill/>
        </p:spPr>
        <p:txBody>
          <a:bodyPr wrap="square" anchor="ctr" lIns="0" rIns="0" tIns="0" bIns="0">
            <a:spAutoFit/>
          </a:bodyPr>
          <a:lstStyle/>
          <a:p>
            <a:pPr algn="l"/>
            <a:r>
              <a:rPr sz="1700" b="1">
                <a:solidFill>
                  <a:srgbClr val="1B2437"/>
                </a:solidFill>
                <a:latin typeface="Malgun Gothic"/>
                <a:ea typeface="Malgun Gothic"/>
                <a:cs typeface="Malgun Gothic"/>
              </a:rPr>
              <a:t>자막 cue 3,750줄</a:t>
            </a:r>
          </a:p>
        </p:txBody>
      </p:sp>
      <p:sp>
        <p:nvSpPr>
          <p:cNvPr id="7" name="TextBox 6"/>
          <p:cNvSpPr txBox="1"/>
          <p:nvPr/>
        </p:nvSpPr>
        <p:spPr>
          <a:xfrm>
            <a:off x="3017520" y="2084832"/>
            <a:ext cx="457200" cy="274320"/>
          </a:xfrm>
          <a:prstGeom prst="rect">
            <a:avLst/>
          </a:prstGeom>
          <a:noFill/>
        </p:spPr>
        <p:txBody>
          <a:bodyPr wrap="square" anchor="t" lIns="0" rIns="0" tIns="0" bIns="0">
            <a:spAutoFit/>
          </a:bodyPr>
          <a:lstStyle/>
          <a:p>
            <a:pPr algn="ctr"/>
            <a:r>
              <a:rPr sz="1400" b="0">
                <a:solidFill>
                  <a:srgbClr val="6B7692"/>
                </a:solidFill>
                <a:latin typeface="Malgun Gothic"/>
                <a:ea typeface="Malgun Gothic"/>
                <a:cs typeface="Malgun Gothic"/>
              </a:rPr>
              <a:t>▼</a:t>
            </a:r>
          </a:p>
        </p:txBody>
      </p:sp>
      <p:sp>
        <p:nvSpPr>
          <p:cNvPr id="8" name="Rounded Rectangle 7"/>
          <p:cNvSpPr/>
          <p:nvPr/>
        </p:nvSpPr>
        <p:spPr>
          <a:xfrm>
            <a:off x="548640" y="2359152"/>
            <a:ext cx="5394960" cy="640080"/>
          </a:xfrm>
          <a:prstGeom prst="roundRect">
            <a:avLst>
              <a:gd name="adj" fmla="val 6000"/>
            </a:avLst>
          </a:prstGeom>
          <a:solidFill>
            <a:srgbClr val="F3F5F9"/>
          </a:solidFill>
          <a:ln w="15875">
            <a:solidFill>
              <a:srgbClr val="245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59152"/>
            <a:ext cx="5029200" cy="640080"/>
          </a:xfrm>
          <a:prstGeom prst="rect">
            <a:avLst/>
          </a:prstGeom>
          <a:noFill/>
        </p:spPr>
        <p:txBody>
          <a:bodyPr wrap="square" anchor="ctr" lIns="0" rIns="0" tIns="0" bIns="0">
            <a:spAutoFit/>
          </a:bodyPr>
          <a:lstStyle/>
          <a:p>
            <a:pPr algn="l"/>
            <a:r>
              <a:rPr sz="1700" b="1">
                <a:solidFill>
                  <a:srgbClr val="1B2437"/>
                </a:solidFill>
                <a:latin typeface="Malgun Gothic"/>
                <a:ea typeface="Malgun Gothic"/>
                <a:cs typeface="Malgun Gothic"/>
              </a:rPr>
              <a:t>청크 869개  (20초 단위, 10초 겹침)</a:t>
            </a:r>
          </a:p>
        </p:txBody>
      </p:sp>
      <p:sp>
        <p:nvSpPr>
          <p:cNvPr id="10" name="TextBox 9"/>
          <p:cNvSpPr txBox="1"/>
          <p:nvPr/>
        </p:nvSpPr>
        <p:spPr>
          <a:xfrm>
            <a:off x="3017520" y="2980944"/>
            <a:ext cx="457200" cy="274320"/>
          </a:xfrm>
          <a:prstGeom prst="rect">
            <a:avLst/>
          </a:prstGeom>
          <a:noFill/>
        </p:spPr>
        <p:txBody>
          <a:bodyPr wrap="square" anchor="t" lIns="0" rIns="0" tIns="0" bIns="0">
            <a:spAutoFit/>
          </a:bodyPr>
          <a:lstStyle/>
          <a:p>
            <a:pPr algn="ctr"/>
            <a:r>
              <a:rPr sz="1400" b="0">
                <a:solidFill>
                  <a:srgbClr val="6B7692"/>
                </a:solidFill>
                <a:latin typeface="Malgun Gothic"/>
                <a:ea typeface="Malgun Gothic"/>
                <a:cs typeface="Malgun Gothic"/>
              </a:rPr>
              <a:t>▼</a:t>
            </a:r>
          </a:p>
        </p:txBody>
      </p:sp>
      <p:sp>
        <p:nvSpPr>
          <p:cNvPr id="11" name="Rounded Rectangle 10"/>
          <p:cNvSpPr/>
          <p:nvPr/>
        </p:nvSpPr>
        <p:spPr>
          <a:xfrm>
            <a:off x="548640" y="3255264"/>
            <a:ext cx="5394960" cy="640080"/>
          </a:xfrm>
          <a:prstGeom prst="roundRect">
            <a:avLst>
              <a:gd name="adj" fmla="val 6000"/>
            </a:avLst>
          </a:prstGeom>
          <a:solidFill>
            <a:srgbClr val="F3F5F9"/>
          </a:solidFill>
          <a:ln w="15875">
            <a:solidFill>
              <a:srgbClr val="245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55264"/>
            <a:ext cx="5029200" cy="640080"/>
          </a:xfrm>
          <a:prstGeom prst="rect">
            <a:avLst/>
          </a:prstGeom>
          <a:noFill/>
        </p:spPr>
        <p:txBody>
          <a:bodyPr wrap="square" anchor="ctr" lIns="0" rIns="0" tIns="0" bIns="0">
            <a:spAutoFit/>
          </a:bodyPr>
          <a:lstStyle/>
          <a:p>
            <a:pPr algn="l"/>
            <a:r>
              <a:rPr sz="1700" b="1">
                <a:solidFill>
                  <a:srgbClr val="1B2437"/>
                </a:solidFill>
                <a:latin typeface="Malgun Gothic"/>
                <a:ea typeface="Malgun Gothic"/>
                <a:cs typeface="Malgun Gothic"/>
              </a:rPr>
              <a:t>BM25 상위 20  +  bge-m3 상위 20</a:t>
            </a:r>
          </a:p>
        </p:txBody>
      </p:sp>
      <p:sp>
        <p:nvSpPr>
          <p:cNvPr id="13" name="TextBox 12"/>
          <p:cNvSpPr txBox="1"/>
          <p:nvPr/>
        </p:nvSpPr>
        <p:spPr>
          <a:xfrm>
            <a:off x="3017520" y="3877056"/>
            <a:ext cx="457200" cy="274320"/>
          </a:xfrm>
          <a:prstGeom prst="rect">
            <a:avLst/>
          </a:prstGeom>
          <a:noFill/>
        </p:spPr>
        <p:txBody>
          <a:bodyPr wrap="square" anchor="t" lIns="0" rIns="0" tIns="0" bIns="0">
            <a:spAutoFit/>
          </a:bodyPr>
          <a:lstStyle/>
          <a:p>
            <a:pPr algn="ctr"/>
            <a:r>
              <a:rPr sz="1400" b="0">
                <a:solidFill>
                  <a:srgbClr val="6B7692"/>
                </a:solidFill>
                <a:latin typeface="Malgun Gothic"/>
                <a:ea typeface="Malgun Gothic"/>
                <a:cs typeface="Malgun Gothic"/>
              </a:rPr>
              <a:t>▼</a:t>
            </a:r>
          </a:p>
        </p:txBody>
      </p:sp>
      <p:sp>
        <p:nvSpPr>
          <p:cNvPr id="14" name="Rounded Rectangle 13"/>
          <p:cNvSpPr/>
          <p:nvPr/>
        </p:nvSpPr>
        <p:spPr>
          <a:xfrm>
            <a:off x="548640" y="4151376"/>
            <a:ext cx="5394960" cy="640080"/>
          </a:xfrm>
          <a:prstGeom prst="roundRect">
            <a:avLst>
              <a:gd name="adj" fmla="val 6000"/>
            </a:avLst>
          </a:prstGeom>
          <a:solidFill>
            <a:srgbClr val="F3F5F9"/>
          </a:solidFill>
          <a:ln w="15875">
            <a:solidFill>
              <a:srgbClr val="B97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151376"/>
            <a:ext cx="5029200" cy="640080"/>
          </a:xfrm>
          <a:prstGeom prst="rect">
            <a:avLst/>
          </a:prstGeom>
          <a:noFill/>
        </p:spPr>
        <p:txBody>
          <a:bodyPr wrap="square" anchor="ctr" lIns="0" rIns="0" tIns="0" bIns="0">
            <a:spAutoFit/>
          </a:bodyPr>
          <a:lstStyle/>
          <a:p>
            <a:pPr algn="l"/>
            <a:r>
              <a:rPr sz="1700" b="1">
                <a:solidFill>
                  <a:srgbClr val="1B2437"/>
                </a:solidFill>
                <a:latin typeface="Malgun Gothic"/>
                <a:ea typeface="Malgun Gothic"/>
                <a:cs typeface="Malgun Gothic"/>
              </a:rPr>
              <a:t>RRF로 순위 합치기</a:t>
            </a:r>
          </a:p>
        </p:txBody>
      </p:sp>
      <p:sp>
        <p:nvSpPr>
          <p:cNvPr id="16" name="TextBox 15"/>
          <p:cNvSpPr txBox="1"/>
          <p:nvPr/>
        </p:nvSpPr>
        <p:spPr>
          <a:xfrm>
            <a:off x="3017520" y="4773168"/>
            <a:ext cx="457200" cy="274320"/>
          </a:xfrm>
          <a:prstGeom prst="rect">
            <a:avLst/>
          </a:prstGeom>
          <a:noFill/>
        </p:spPr>
        <p:txBody>
          <a:bodyPr wrap="square" anchor="t" lIns="0" rIns="0" tIns="0" bIns="0">
            <a:spAutoFit/>
          </a:bodyPr>
          <a:lstStyle/>
          <a:p>
            <a:pPr algn="ctr"/>
            <a:r>
              <a:rPr sz="1400" b="0">
                <a:solidFill>
                  <a:srgbClr val="6B7692"/>
                </a:solidFill>
                <a:latin typeface="Malgun Gothic"/>
                <a:ea typeface="Malgun Gothic"/>
                <a:cs typeface="Malgun Gothic"/>
              </a:rPr>
              <a:t>▼</a:t>
            </a:r>
          </a:p>
        </p:txBody>
      </p:sp>
      <p:sp>
        <p:nvSpPr>
          <p:cNvPr id="17" name="Rounded Rectangle 16"/>
          <p:cNvSpPr/>
          <p:nvPr/>
        </p:nvSpPr>
        <p:spPr>
          <a:xfrm>
            <a:off x="548640" y="5047488"/>
            <a:ext cx="5394960" cy="640080"/>
          </a:xfrm>
          <a:prstGeom prst="roundRect">
            <a:avLst>
              <a:gd name="adj" fmla="val 6000"/>
            </a:avLst>
          </a:prstGeom>
          <a:solidFill>
            <a:srgbClr val="F3F5F9"/>
          </a:solidFill>
          <a:ln w="15875">
            <a:solidFill>
              <a:srgbClr val="2457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047488"/>
            <a:ext cx="5029200" cy="640080"/>
          </a:xfrm>
          <a:prstGeom prst="rect">
            <a:avLst/>
          </a:prstGeom>
          <a:noFill/>
        </p:spPr>
        <p:txBody>
          <a:bodyPr wrap="square" anchor="ctr" lIns="0" rIns="0" tIns="0" bIns="0">
            <a:spAutoFit/>
          </a:bodyPr>
          <a:lstStyle/>
          <a:p>
            <a:pPr algn="l"/>
            <a:r>
              <a:rPr sz="1700" b="1">
                <a:solidFill>
                  <a:srgbClr val="1B2437"/>
                </a:solidFill>
                <a:latin typeface="Malgun Gothic"/>
                <a:ea typeface="Malgun Gothic"/>
                <a:cs typeface="Malgun Gothic"/>
              </a:rPr>
              <a:t>원본 cue로 되돌리기</a:t>
            </a:r>
          </a:p>
        </p:txBody>
      </p:sp>
      <p:sp>
        <p:nvSpPr>
          <p:cNvPr id="19" name="Rounded Rectangle 18"/>
          <p:cNvSpPr/>
          <p:nvPr/>
        </p:nvSpPr>
        <p:spPr>
          <a:xfrm>
            <a:off x="6263640" y="1371600"/>
            <a:ext cx="5486400" cy="3246120"/>
          </a:xfrm>
          <a:prstGeom prst="roundRect">
            <a:avLst>
              <a:gd name="adj" fmla="val 25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536192"/>
            <a:ext cx="5120640" cy="2916936"/>
          </a:xfrm>
          <a:prstGeom prst="rect">
            <a:avLst/>
          </a:prstGeom>
          <a:noFill/>
        </p:spPr>
        <p:txBody>
          <a:bodyPr wrap="square" anchor="t" lIns="0" rIns="0" tIns="0" bIns="0">
            <a:spAutoFit/>
          </a:bodyPr>
          <a:lstStyle/>
          <a:p>
            <a:pPr algn="l">
              <a:lnSpc>
                <a:spcPct val="108000"/>
              </a:lnSpc>
              <a:spcAft>
                <a:spcPts val="0"/>
              </a:spcAft>
            </a:pPr>
            <a:r>
              <a:rPr sz="1300" b="0">
                <a:solidFill>
                  <a:srgbClr val="E6E9F2"/>
                </a:solidFill>
                <a:latin typeface="Consolas"/>
                <a:ea typeface="Consolas"/>
                <a:cs typeface="Consolas"/>
              </a:rPr>
              <a:t>fused = {}</a:t>
            </a:r>
          </a:p>
          <a:p>
            <a:pPr algn="l">
              <a:lnSpc>
                <a:spcPct val="108000"/>
              </a:lnSpc>
              <a:spcAft>
                <a:spcPts val="0"/>
              </a:spcAft>
            </a:pPr>
            <a:r>
              <a:rPr sz="1300" b="0">
                <a:solidFill>
                  <a:srgbClr val="E6E9F2"/>
                </a:solidFill>
                <a:latin typeface="Consolas"/>
                <a:ea typeface="Consolas"/>
                <a:cs typeface="Consolas"/>
              </a:rPr>
              <a:t>for rank in ranks:   # BM25 list, dense list</a:t>
            </a:r>
          </a:p>
          <a:p>
            <a:pPr algn="l">
              <a:lnSpc>
                <a:spcPct val="108000"/>
              </a:lnSpc>
              <a:spcAft>
                <a:spcPts val="0"/>
              </a:spcAft>
            </a:pPr>
            <a:r>
              <a:rPr sz="1300" b="0">
                <a:solidFill>
                  <a:srgbClr val="E6E9F2"/>
                </a:solidFill>
                <a:latin typeface="Consolas"/>
                <a:ea typeface="Consolas"/>
                <a:cs typeface="Consolas"/>
              </a:rPr>
              <a:t>    for position, i in enumerate(rank, 1):</a:t>
            </a:r>
          </a:p>
          <a:p>
            <a:pPr algn="l">
              <a:lnSpc>
                <a:spcPct val="108000"/>
              </a:lnSpc>
              <a:spcAft>
                <a:spcPts val="0"/>
              </a:spcAft>
            </a:pPr>
            <a:r>
              <a:rPr sz="1300" b="0">
                <a:solidFill>
                  <a:srgbClr val="9DB7FF"/>
                </a:solidFill>
                <a:latin typeface="Consolas"/>
                <a:ea typeface="Consolas"/>
                <a:cs typeface="Consolas"/>
              </a:rPr>
              <a:t>        fused[i] = fused.get(i, 0) \</a:t>
            </a:r>
          </a:p>
          <a:p>
            <a:pPr algn="l">
              <a:lnSpc>
                <a:spcPct val="108000"/>
              </a:lnSpc>
              <a:spcAft>
                <a:spcPts val="0"/>
              </a:spcAft>
            </a:pPr>
            <a:r>
              <a:rPr sz="1300" b="0">
                <a:solidFill>
                  <a:srgbClr val="9DB7FF"/>
                </a:solidFill>
                <a:latin typeface="Consolas"/>
                <a:ea typeface="Consolas"/>
                <a:cs typeface="Consolas"/>
              </a:rPr>
              <a:t>                   + 1 / (60 + position)</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E6E9F2"/>
                </a:solidFill>
                <a:latin typeface="Consolas"/>
                <a:ea typeface="Consolas"/>
                <a:cs typeface="Consolas"/>
              </a:rPr>
              <a:t>for i in sorted(fused,</a:t>
            </a:r>
          </a:p>
          <a:p>
            <a:pPr algn="l">
              <a:lnSpc>
                <a:spcPct val="108000"/>
              </a:lnSpc>
              <a:spcAft>
                <a:spcPts val="0"/>
              </a:spcAft>
            </a:pPr>
            <a:r>
              <a:rPr sz="1300" b="0">
                <a:solidFill>
                  <a:srgbClr val="E6E9F2"/>
                </a:solidFill>
                <a:latin typeface="Consolas"/>
                <a:ea typeface="Consolas"/>
                <a:cs typeface="Consolas"/>
              </a:rPr>
              <a:t>                key=lambda i: (-fused[i], i)):</a:t>
            </a:r>
          </a:p>
          <a:p>
            <a:pPr algn="l">
              <a:lnSpc>
                <a:spcPct val="108000"/>
              </a:lnSpc>
              <a:spcAft>
                <a:spcPts val="0"/>
              </a:spcAft>
            </a:pPr>
            <a:r>
              <a:rPr sz="1300" b="0">
                <a:solidFill>
                  <a:srgbClr val="E6E9F2"/>
                </a:solidFill>
                <a:latin typeface="Consolas"/>
                <a:ea typeface="Consolas"/>
                <a:cs typeface="Consolas"/>
              </a:rPr>
              <a:t>    chunk = self.chunks[i]</a:t>
            </a:r>
          </a:p>
          <a:p>
            <a:pPr algn="l">
              <a:lnSpc>
                <a:spcPct val="108000"/>
              </a:lnSpc>
              <a:spcAft>
                <a:spcPts val="0"/>
              </a:spcAft>
            </a:pPr>
            <a:r>
              <a:rPr sz="1300" b="0">
                <a:solidFill>
                  <a:srgbClr val="E6E9F2"/>
                </a:solidFill>
                <a:latin typeface="Consolas"/>
                <a:ea typeface="Consolas"/>
                <a:cs typeface="Consolas"/>
              </a:rPr>
              <a:t>    ...  # near-duplicate chunks removed</a:t>
            </a:r>
          </a:p>
          <a:p>
            <a:pPr algn="l">
              <a:lnSpc>
                <a:spcPct val="108000"/>
              </a:lnSpc>
              <a:spcAft>
                <a:spcPts val="0"/>
              </a:spcAft>
            </a:pPr>
            <a:r>
              <a:rPr sz="1300" b="0">
                <a:solidFill>
                  <a:srgbClr val="E6E9F2"/>
                </a:solidFill>
                <a:latin typeface="Consolas"/>
                <a:ea typeface="Consolas"/>
                <a:cs typeface="Consolas"/>
              </a:rPr>
              <a:t>    candidate = Candidate(chunk=chunk,</a:t>
            </a:r>
          </a:p>
          <a:p>
            <a:pPr algn="l">
              <a:lnSpc>
                <a:spcPct val="108000"/>
              </a:lnSpc>
              <a:spcAft>
                <a:spcPts val="0"/>
              </a:spcAft>
            </a:pPr>
            <a:r>
              <a:rPr sz="1300" b="0">
                <a:solidFill>
                  <a:srgbClr val="E6E9F2"/>
                </a:solidFill>
                <a:latin typeface="Consolas"/>
                <a:ea typeface="Consolas"/>
                <a:cs typeface="Consolas"/>
              </a:rPr>
              <a:t>                          score=fused[i])</a:t>
            </a:r>
          </a:p>
        </p:txBody>
      </p:sp>
      <p:sp>
        <p:nvSpPr>
          <p:cNvPr id="21" name="TextBox 20"/>
          <p:cNvSpPr txBox="1"/>
          <p:nvPr/>
        </p:nvSpPr>
        <p:spPr>
          <a:xfrm>
            <a:off x="6263640" y="4672583"/>
            <a:ext cx="5486400" cy="274320"/>
          </a:xfrm>
          <a:prstGeom prst="rect">
            <a:avLst/>
          </a:prstGeom>
          <a:noFill/>
        </p:spPr>
        <p:txBody>
          <a:bodyPr wrap="square" anchor="t" lIns="0" rIns="0" tIns="0" bIns="0">
            <a:spAutoFit/>
          </a:bodyPr>
          <a:lstStyle/>
          <a:p>
            <a:pPr algn="l"/>
            <a:r>
              <a:rPr sz="1100" b="0">
                <a:solidFill>
                  <a:srgbClr val="5B6577"/>
                </a:solidFill>
                <a:latin typeface="Malgun Gothic"/>
                <a:ea typeface="Malgun Gothic"/>
                <a:cs typeface="Malgun Gothic"/>
              </a:rPr>
              <a:t>backend/app/retrieval/hybrid.py (발췌, 줄 바꿈만 조정)</a:t>
            </a:r>
          </a:p>
        </p:txBody>
      </p:sp>
      <p:sp>
        <p:nvSpPr>
          <p:cNvPr id="22" name="Rounded Rectangle 21"/>
          <p:cNvSpPr/>
          <p:nvPr/>
        </p:nvSpPr>
        <p:spPr>
          <a:xfrm>
            <a:off x="6263640" y="5029200"/>
            <a:ext cx="5486400"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5074920"/>
            <a:ext cx="5029200" cy="960120"/>
          </a:xfrm>
          <a:prstGeom prst="rect">
            <a:avLst/>
          </a:prstGeom>
          <a:noFill/>
        </p:spPr>
        <p:txBody>
          <a:bodyPr wrap="square" anchor="ctr" lIns="0" rIns="0" tIns="0" bIns="0">
            <a:spAutoFit/>
          </a:bodyPr>
          <a:lstStyle/>
          <a:p>
            <a:pPr algn="l">
              <a:spcAft>
                <a:spcPts val="200"/>
              </a:spcAft>
            </a:pPr>
            <a:r>
              <a:rPr sz="2400" b="1">
                <a:solidFill>
                  <a:srgbClr val="1B2437"/>
                </a:solidFill>
                <a:latin typeface="Malgun Gothic"/>
                <a:ea typeface="Malgun Gothic"/>
                <a:cs typeface="Malgun Gothic"/>
              </a:rPr>
              <a:t>점수 = Σ  1 / (60 + 순위)</a:t>
            </a:r>
          </a:p>
          <a:p>
            <a:pPr algn="l"/>
            <a:r>
              <a:rPr sz="1300" b="0">
                <a:solidFill>
                  <a:srgbClr val="5B6577"/>
                </a:solidFill>
                <a:latin typeface="Malgun Gothic"/>
                <a:ea typeface="Malgun Gothic"/>
                <a:cs typeface="Malgun Gothic"/>
              </a:rPr>
              <a:t>청크 길이 비교(B, 18문항): 10/5=11 · 20/10=11 · 30/15=9 · 40/20=5 → 20/10 유지. 60은 미비교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[백업] 한계와 측정 결과: 구조보다 데이터가 문제였다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8</a:t>
            </a:r>
          </a:p>
        </p:txBody>
      </p:sp>
      <p:sp>
        <p:nvSpPr>
          <p:cNvPr id="5" name="TextBox 4"/>
          <p:cNvSpPr txBox="1"/>
          <p:nvPr/>
        </p:nvSpPr>
        <p:spPr>
          <a:xfrm>
            <a:off x="548640" y="1371600"/>
            <a:ext cx="5394960" cy="411480"/>
          </a:xfrm>
          <a:prstGeom prst="rect">
            <a:avLst/>
          </a:prstGeom>
          <a:noFill/>
        </p:spPr>
        <p:txBody>
          <a:bodyPr wrap="square" anchor="t" lIns="0" rIns="0" tIns="0" bIns="0">
            <a:spAutoFit/>
          </a:bodyPr>
          <a:lstStyle/>
          <a:p>
            <a:pPr algn="l"/>
            <a:r>
              <a:rPr sz="2000" b="1">
                <a:solidFill>
                  <a:srgbClr val="1B2437"/>
                </a:solidFill>
                <a:latin typeface="Malgun Gothic"/>
                <a:ea typeface="Malgun Gothic"/>
                <a:cs typeface="Malgun Gothic"/>
              </a:rPr>
              <a:t>한계와 트레이드오프</a:t>
            </a:r>
          </a:p>
        </p:txBody>
      </p:sp>
      <p:sp>
        <p:nvSpPr>
          <p:cNvPr id="6" name="TextBox 5"/>
          <p:cNvSpPr txBox="1"/>
          <p:nvPr/>
        </p:nvSpPr>
        <p:spPr>
          <a:xfrm>
            <a:off x="6263640" y="1371600"/>
            <a:ext cx="5394960" cy="411480"/>
          </a:xfrm>
          <a:prstGeom prst="rect">
            <a:avLst/>
          </a:prstGeom>
          <a:noFill/>
        </p:spPr>
        <p:txBody>
          <a:bodyPr wrap="square" anchor="t" lIns="0" rIns="0" tIns="0" bIns="0">
            <a:spAutoFit/>
          </a:bodyPr>
          <a:lstStyle/>
          <a:p>
            <a:pPr algn="l"/>
            <a:r>
              <a:rPr sz="2000" b="1">
                <a:solidFill>
                  <a:srgbClr val="2457D6"/>
                </a:solidFill>
                <a:latin typeface="Malgun Gothic"/>
                <a:ea typeface="Malgun Gothic"/>
                <a:cs typeface="Malgun Gothic"/>
              </a:rPr>
              <a:t>측정 결과와 이후</a:t>
            </a:r>
          </a:p>
        </p:txBody>
      </p:sp>
      <p:sp>
        <p:nvSpPr>
          <p:cNvPr id="7" name="Rounded Rectangle 6"/>
          <p:cNvSpPr/>
          <p:nvPr/>
        </p:nvSpPr>
        <p:spPr>
          <a:xfrm>
            <a:off x="548640" y="1874519"/>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Agent 우위가 불확실</a:t>
            </a:r>
          </a:p>
          <a:p>
            <a:pPr algn="l"/>
            <a:r>
              <a:rPr sz="1500" b="0">
                <a:solidFill>
                  <a:srgbClr val="5B6577"/>
                </a:solidFill>
                <a:latin typeface="Malgun Gothic"/>
                <a:ea typeface="Malgun Gothic"/>
                <a:cs typeface="Malgun Gothic"/>
              </a:rPr>
              <a:t>1~5문항 차이, 질문당 1회 실행</a:t>
            </a:r>
          </a:p>
        </p:txBody>
      </p:sp>
      <p:sp>
        <p:nvSpPr>
          <p:cNvPr id="9" name="Rounded Rectangle 8"/>
          <p:cNvSpPr/>
          <p:nvPr/>
        </p:nvSpPr>
        <p:spPr>
          <a:xfrm>
            <a:off x="6263640" y="1874519"/>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65960"/>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이후: Supervisor 구조 비교</a:t>
            </a:r>
          </a:p>
          <a:p>
            <a:pPr algn="l"/>
            <a:r>
              <a:rPr sz="1500" b="0">
                <a:solidFill>
                  <a:srgbClr val="5B6577"/>
                </a:solidFill>
                <a:latin typeface="Malgun Gothic"/>
                <a:ea typeface="Malgun Gothic"/>
                <a:cs typeface="Malgun Gothic"/>
              </a:rPr>
              <a:t>더 복잡한 서비스로 넓힐 때 전환</a:t>
            </a:r>
          </a:p>
        </p:txBody>
      </p:sp>
      <p:sp>
        <p:nvSpPr>
          <p:cNvPr id="11" name="Rounded Rectangle 10"/>
          <p:cNvSpPr/>
          <p:nvPr/>
        </p:nvSpPr>
        <p:spPr>
          <a:xfrm>
            <a:off x="548640" y="3044952"/>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36392"/>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지연과 토큰 증가</a:t>
            </a:r>
          </a:p>
          <a:p>
            <a:pPr algn="l"/>
            <a:r>
              <a:rPr sz="1500" b="0">
                <a:solidFill>
                  <a:srgbClr val="5B6577"/>
                </a:solidFill>
                <a:latin typeface="Malgun Gothic"/>
                <a:ea typeface="Malgun Gothic"/>
                <a:cs typeface="Malgun Gothic"/>
              </a:rPr>
              <a:t>평균 2.6초, 입력 토큰 +24%</a:t>
            </a:r>
          </a:p>
        </p:txBody>
      </p:sp>
      <p:sp>
        <p:nvSpPr>
          <p:cNvPr id="13" name="Rounded Rectangle 12"/>
          <p:cNvSpPr/>
          <p:nvPr/>
        </p:nvSpPr>
        <p:spPr>
          <a:xfrm>
            <a:off x="6263640" y="3044952"/>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136392"/>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청크 길이: 20초/10초 유지</a:t>
            </a:r>
          </a:p>
          <a:p>
            <a:pPr algn="l"/>
            <a:r>
              <a:rPr sz="1500" b="0">
                <a:solidFill>
                  <a:srgbClr val="5B6577"/>
                </a:solidFill>
                <a:latin typeface="Malgun Gothic"/>
                <a:ea typeface="Malgun Gothic"/>
                <a:cs typeface="Malgun Gothic"/>
              </a:rPr>
              <a:t>10/5와 같고 30/15·40/20은 하락 (B, 18문항)</a:t>
            </a:r>
          </a:p>
        </p:txBody>
      </p:sp>
      <p:sp>
        <p:nvSpPr>
          <p:cNvPr id="15" name="Rounded Rectangle 14"/>
          <p:cNvSpPr/>
          <p:nvPr/>
        </p:nvSpPr>
        <p:spPr>
          <a:xfrm>
            <a:off x="548640" y="4215383"/>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306823"/>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틀리거나 못 찾는 경우</a:t>
            </a:r>
          </a:p>
          <a:p>
            <a:pPr algn="l"/>
            <a:r>
              <a:rPr sz="1500" b="0">
                <a:solidFill>
                  <a:srgbClr val="5B6577"/>
                </a:solidFill>
                <a:latin typeface="Malgun Gothic"/>
                <a:ea typeface="Malgun Gothic"/>
                <a:cs typeface="Malgun Gothic"/>
              </a:rPr>
              <a:t>후속 질문, 번역 어휘 차이 (이중 검색도 해결 못 함)</a:t>
            </a:r>
          </a:p>
        </p:txBody>
      </p:sp>
      <p:sp>
        <p:nvSpPr>
          <p:cNvPr id="17" name="Rounded Rectangle 16"/>
          <p:cNvSpPr/>
          <p:nvPr/>
        </p:nvSpPr>
        <p:spPr>
          <a:xfrm>
            <a:off x="6263640" y="4215383"/>
            <a:ext cx="5394960" cy="102412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306823"/>
            <a:ext cx="4937760" cy="868680"/>
          </a:xfrm>
          <a:prstGeom prst="rect">
            <a:avLst/>
          </a:prstGeom>
          <a:noFill/>
        </p:spPr>
        <p:txBody>
          <a:bodyPr wrap="square" anchor="ctr" lIns="0" rIns="0" tIns="0" bIns="0">
            <a:spAutoFit/>
          </a:bodyPr>
          <a:lstStyle/>
          <a:p>
            <a:pPr algn="l">
              <a:spcAft>
                <a:spcPts val="300"/>
              </a:spcAft>
            </a:pPr>
            <a:r>
              <a:rPr sz="1800" b="1">
                <a:solidFill>
                  <a:srgbClr val="1B2437"/>
                </a:solidFill>
                <a:latin typeface="Malgun Gothic"/>
                <a:ea typeface="Malgun Gothic"/>
                <a:cs typeface="Malgun Gothic"/>
              </a:rPr>
              <a:t>이중 첫 검색: 평가셋 이득 없음</a:t>
            </a:r>
          </a:p>
          <a:p>
            <a:pPr algn="l"/>
            <a:r>
              <a:rPr sz="1500" b="0">
                <a:solidFill>
                  <a:srgbClr val="5B6577"/>
                </a:solidFill>
                <a:latin typeface="Malgun Gothic"/>
                <a:ea typeface="Malgun Gothic"/>
                <a:cs typeface="Malgun Gothic"/>
              </a:rPr>
              <a:t>16 → 16, 검색 +1회 → 기본 꺼짐 유지</a:t>
            </a:r>
          </a:p>
        </p:txBody>
      </p:sp>
      <p:sp>
        <p:nvSpPr>
          <p:cNvPr id="19" name="Rounded Rectangle 18"/>
          <p:cNvSpPr/>
          <p:nvPr/>
        </p:nvSpPr>
        <p:spPr>
          <a:xfrm>
            <a:off x="548640" y="5440680"/>
            <a:ext cx="11109960" cy="822960"/>
          </a:xfrm>
          <a:prstGeom prst="roundRect">
            <a:avLst>
              <a:gd name="adj" fmla="val 6000"/>
            </a:avLst>
          </a:prstGeom>
          <a:solidFill>
            <a:srgbClr val="E8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440680"/>
            <a:ext cx="10607040" cy="822960"/>
          </a:xfrm>
          <a:prstGeom prst="rect">
            <a:avLst/>
          </a:prstGeom>
          <a:noFill/>
        </p:spPr>
        <p:txBody>
          <a:bodyPr wrap="square" anchor="ctr" lIns="0" rIns="0" tIns="0" bIns="0">
            <a:spAutoFit/>
          </a:bodyPr>
          <a:lstStyle/>
          <a:p>
            <a:pPr algn="l"/>
            <a:r>
              <a:rPr sz="1900" b="1">
                <a:solidFill>
                  <a:srgbClr val="2457D6"/>
                </a:solidFill>
                <a:latin typeface="Malgun Gothic"/>
                <a:ea typeface="Malgun Gothic"/>
                <a:cs typeface="Malgun Gothic"/>
              </a:rPr>
              <a:t>원인은 구조가 아니라 번역 자막의 단어("마니또" ↔ "Secret Santa")였다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[백업] LangSmith로 노드별 시간·LLM 호출·토큰을 추적했다</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9</a:t>
            </a:r>
          </a:p>
        </p:txBody>
      </p:sp>
      <p:pic>
        <p:nvPicPr>
          <p:cNvPr id="5" name="Picture 4" descr="01_overview.png"/>
          <p:cNvPicPr>
            <a:picLocks noChangeAspect="1"/>
          </p:cNvPicPr>
          <p:nvPr/>
        </p:nvPicPr>
        <p:blipFill>
          <a:blip r:embed="rId2"/>
          <a:stretch>
            <a:fillRect/>
          </a:stretch>
        </p:blipFill>
        <p:spPr>
          <a:xfrm>
            <a:off x="457200" y="1371600"/>
            <a:ext cx="5760720" cy="2333456"/>
          </a:xfrm>
          <a:prstGeom prst="rect">
            <a:avLst/>
          </a:prstGeom>
          <a:ln w="12700">
            <a:solidFill>
              <a:srgbClr val="D5DBEA"/>
            </a:solidFill>
          </a:ln>
        </p:spPr>
      </p:pic>
      <p:sp>
        <p:nvSpPr>
          <p:cNvPr id="6" name="TextBox 5"/>
          <p:cNvSpPr txBox="1"/>
          <p:nvPr/>
        </p:nvSpPr>
        <p:spPr>
          <a:xfrm>
            <a:off x="457200" y="3931920"/>
            <a:ext cx="5760720" cy="822960"/>
          </a:xfrm>
          <a:prstGeom prst="rect">
            <a:avLst/>
          </a:prstGeom>
          <a:noFill/>
        </p:spPr>
        <p:txBody>
          <a:bodyPr wrap="square" anchor="t" lIns="0" rIns="0" tIns="0" bIns="0">
            <a:spAutoFit/>
          </a:bodyPr>
          <a:lstStyle/>
          <a:p>
            <a:pPr algn="l"/>
            <a:r>
              <a:rPr sz="1400" b="0">
                <a:solidFill>
                  <a:srgbClr val="5B6577"/>
                </a:solidFill>
                <a:latin typeface="Malgun Gothic"/>
                <a:ea typeface="Malgun Gothic"/>
                <a:cs typeface="Malgun Gothic"/>
              </a:rPr>
              <a:t>평가 2회 합계: 트레이스 160 · 모델 호출 188 · 토큰 135.5K · 비용 $0.30 (LangSmith 계산값)</a:t>
            </a:r>
          </a:p>
        </p:txBody>
      </p:sp>
      <p:pic>
        <p:nvPicPr>
          <p:cNvPr id="7" name="Picture 6" descr="02_trace_tree.png"/>
          <p:cNvPicPr>
            <a:picLocks noChangeAspect="1"/>
          </p:cNvPicPr>
          <p:nvPr/>
        </p:nvPicPr>
        <p:blipFill>
          <a:blip r:embed="rId3"/>
          <a:stretch>
            <a:fillRect/>
          </a:stretch>
        </p:blipFill>
        <p:spPr>
          <a:xfrm>
            <a:off x="6446520" y="1371600"/>
            <a:ext cx="2743200" cy="1865539"/>
          </a:xfrm>
          <a:prstGeom prst="rect">
            <a:avLst/>
          </a:prstGeom>
          <a:ln w="12700">
            <a:solidFill>
              <a:srgbClr val="D5DBEA"/>
            </a:solidFill>
          </a:ln>
        </p:spPr>
      </p:pic>
      <p:pic>
        <p:nvPicPr>
          <p:cNvPr id="8" name="Picture 7" descr="03_trace_replan.png"/>
          <p:cNvPicPr>
            <a:picLocks noChangeAspect="1"/>
          </p:cNvPicPr>
          <p:nvPr/>
        </p:nvPicPr>
        <p:blipFill>
          <a:blip r:embed="rId4"/>
          <a:stretch>
            <a:fillRect/>
          </a:stretch>
        </p:blipFill>
        <p:spPr>
          <a:xfrm>
            <a:off x="9418320" y="1371600"/>
            <a:ext cx="2118963" cy="3566160"/>
          </a:xfrm>
          <a:prstGeom prst="rect">
            <a:avLst/>
          </a:prstGeom>
          <a:ln w="12700">
            <a:solidFill>
              <a:srgbClr val="D5DBEA"/>
            </a:solidFill>
          </a:ln>
        </p:spPr>
      </p:pic>
      <p:sp>
        <p:nvSpPr>
          <p:cNvPr id="9" name="TextBox 8"/>
          <p:cNvSpPr txBox="1"/>
          <p:nvPr/>
        </p:nvSpPr>
        <p:spPr>
          <a:xfrm>
            <a:off x="6446520" y="5120640"/>
            <a:ext cx="5303520" cy="1097280"/>
          </a:xfrm>
          <a:prstGeom prst="rect">
            <a:avLst/>
          </a:prstGeom>
          <a:noFill/>
        </p:spPr>
        <p:txBody>
          <a:bodyPr wrap="square" anchor="t" lIns="0" rIns="0" tIns="0" bIns="0">
            <a:spAutoFit/>
          </a:bodyPr>
          <a:lstStyle/>
          <a:p>
            <a:pPr algn="l">
              <a:spcAft>
                <a:spcPts val="200"/>
              </a:spcAft>
            </a:pPr>
            <a:r>
              <a:rPr sz="1400" b="0">
                <a:solidFill>
                  <a:srgbClr val="1B2437"/>
                </a:solidFill>
                <a:latin typeface="Malgun Gothic"/>
                <a:ea typeface="Malgun Gothic"/>
                <a:cs typeface="Malgun Gothic"/>
              </a:rPr>
              <a:t>왼쪽: 재검색 없는 건 2.01초 · LLM 2회</a:t>
            </a:r>
          </a:p>
          <a:p>
            <a:pPr algn="l">
              <a:spcAft>
                <a:spcPts val="200"/>
              </a:spcAft>
            </a:pPr>
            <a:r>
              <a:rPr sz="1400" b="0">
                <a:solidFill>
                  <a:srgbClr val="1B2437"/>
                </a:solidFill>
                <a:latin typeface="Malgun Gothic"/>
                <a:ea typeface="Malgun Gothic"/>
                <a:cs typeface="Malgun Gothic"/>
              </a:rPr>
              <a:t>오른쪽: 재검색 1번 건 4.28초 · LLM 4회</a:t>
            </a:r>
          </a:p>
          <a:p>
            <a:pPr algn="l"/>
            <a:r>
              <a:rPr sz="1300" b="0">
                <a:solidFill>
                  <a:srgbClr val="5B6577"/>
                </a:solidFill>
                <a:latin typeface="Malgun Gothic"/>
                <a:ea typeface="Malgun Gothic"/>
                <a:cs typeface="Malgun Gothic"/>
              </a:rPr>
              <a:t>MCP 도구 호출은 LangSmith에 따로 잡히지 않는다 (한계)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[백업] 의존성 주입과 테스트</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10</a:t>
            </a:r>
          </a:p>
        </p:txBody>
      </p:sp>
      <p:sp>
        <p:nvSpPr>
          <p:cNvPr id="5" name="Rounded Rectangle 4"/>
          <p:cNvSpPr/>
          <p:nvPr/>
        </p:nvSpPr>
        <p:spPr>
          <a:xfrm>
            <a:off x="548640" y="1371600"/>
            <a:ext cx="5760720" cy="3200400"/>
          </a:xfrm>
          <a:prstGeom prst="roundRect">
            <a:avLst>
              <a:gd name="adj" fmla="val 25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36192"/>
            <a:ext cx="5394959" cy="2871216"/>
          </a:xfrm>
          <a:prstGeom prst="rect">
            <a:avLst/>
          </a:prstGeom>
          <a:noFill/>
        </p:spPr>
        <p:txBody>
          <a:bodyPr wrap="square" anchor="t" lIns="0" rIns="0" tIns="0" bIns="0">
            <a:spAutoFit/>
          </a:bodyPr>
          <a:lstStyle/>
          <a:p>
            <a:pPr algn="l">
              <a:lnSpc>
                <a:spcPct val="108000"/>
              </a:lnSpc>
              <a:spcAft>
                <a:spcPts val="0"/>
              </a:spcAft>
            </a:pPr>
            <a:r>
              <a:rPr sz="1300" b="0">
                <a:solidFill>
                  <a:srgbClr val="E6E9F2"/>
                </a:solidFill>
                <a:latin typeface="Consolas"/>
                <a:ea typeface="Consolas"/>
                <a:cs typeface="Consolas"/>
              </a:rPr>
              <a:t>class FinderAgent:</a:t>
            </a:r>
          </a:p>
          <a:p>
            <a:pPr algn="l">
              <a:lnSpc>
                <a:spcPct val="108000"/>
              </a:lnSpc>
              <a:spcAft>
                <a:spcPts val="0"/>
              </a:spcAft>
            </a:pPr>
            <a:r>
              <a:rPr sz="1300" b="0">
                <a:solidFill>
                  <a:srgbClr val="9DB7FF"/>
                </a:solidFill>
                <a:latin typeface="Consolas"/>
                <a:ea typeface="Consolas"/>
                <a:cs typeface="Consolas"/>
              </a:rPr>
              <a:t>    def __init__(self, session, metadata, model, *,</a:t>
            </a:r>
          </a:p>
          <a:p>
            <a:pPr algn="l">
              <a:lnSpc>
                <a:spcPct val="108000"/>
              </a:lnSpc>
              <a:spcAft>
                <a:spcPts val="0"/>
              </a:spcAft>
            </a:pPr>
            <a:r>
              <a:rPr sz="1300" b="0">
                <a:solidFill>
                  <a:srgbClr val="E6E9F2"/>
                </a:solidFill>
                <a:latin typeface="Consolas"/>
                <a:ea typeface="Consolas"/>
                <a:cs typeface="Consolas"/>
              </a:rPr>
              <a:t>                 mode='hybrid',</a:t>
            </a:r>
          </a:p>
          <a:p>
            <a:pPr algn="l">
              <a:lnSpc>
                <a:spcPct val="108000"/>
              </a:lnSpc>
              <a:spcAft>
                <a:spcPts val="0"/>
              </a:spcAft>
            </a:pPr>
            <a:r>
              <a:rPr sz="1300" b="0">
                <a:solidFill>
                  <a:srgbClr val="E6E9F2"/>
                </a:solidFill>
                <a:latin typeface="Consolas"/>
                <a:ea typeface="Consolas"/>
                <a:cs typeface="Consolas"/>
              </a:rPr>
              <a:t>                 tool_call=call_tool,</a:t>
            </a:r>
          </a:p>
          <a:p>
            <a:pPr algn="l">
              <a:lnSpc>
                <a:spcPct val="108000"/>
              </a:lnSpc>
              <a:spcAft>
                <a:spcPts val="0"/>
              </a:spcAft>
            </a:pPr>
            <a:r>
              <a:rPr sz="1300" b="0">
                <a:solidFill>
                  <a:srgbClr val="E6E9F2"/>
                </a:solidFill>
                <a:latin typeface="Consolas"/>
                <a:ea typeface="Consolas"/>
                <a:cs typeface="Consolas"/>
              </a:rPr>
              <a:t>                 timeout=60,</a:t>
            </a:r>
          </a:p>
          <a:p>
            <a:pPr algn="l">
              <a:lnSpc>
                <a:spcPct val="108000"/>
              </a:lnSpc>
              <a:spcAft>
                <a:spcPts val="0"/>
              </a:spcAft>
            </a:pPr>
            <a:r>
              <a:rPr sz="1300" b="0">
                <a:solidFill>
                  <a:srgbClr val="E6E9F2"/>
                </a:solidFill>
                <a:latin typeface="Consolas"/>
                <a:ea typeface="Consolas"/>
                <a:cs typeface="Consolas"/>
              </a:rPr>
              <a:t>                 telemetry=None,</a:t>
            </a:r>
          </a:p>
          <a:p>
            <a:pPr algn="l">
              <a:lnSpc>
                <a:spcPct val="108000"/>
              </a:lnSpc>
              <a:spcAft>
                <a:spcPts val="0"/>
              </a:spcAft>
            </a:pPr>
            <a:r>
              <a:rPr sz="1300" b="0">
                <a:solidFill>
                  <a:srgbClr val="E6E9F2"/>
                </a:solidFill>
                <a:latin typeface="Consolas"/>
                <a:ea typeface="Consolas"/>
                <a:cs typeface="Consolas"/>
              </a:rPr>
              <a:t>                 dual_query=False, ...):</a:t>
            </a:r>
          </a:p>
          <a:p>
            <a:pPr algn="l">
              <a:lnSpc>
                <a:spcPct val="108000"/>
              </a:lnSpc>
              <a:spcAft>
                <a:spcPts val="0"/>
              </a:spcAft>
            </a:pPr>
            <a:r>
              <a:rPr sz="1300" b="0">
                <a:solidFill>
                  <a:srgbClr val="9DB7FF"/>
                </a:solidFill>
                <a:latin typeface="Consolas"/>
                <a:ea typeface="Consolas"/>
                <a:cs typeface="Consolas"/>
              </a:rPr>
              <a:t>        self.session = session   # MCP session</a:t>
            </a:r>
          </a:p>
          <a:p>
            <a:pPr algn="l">
              <a:lnSpc>
                <a:spcPct val="108000"/>
              </a:lnSpc>
              <a:spcAft>
                <a:spcPts val="0"/>
              </a:spcAft>
            </a:pPr>
            <a:r>
              <a:rPr sz="1300" b="0">
                <a:solidFill>
                  <a:srgbClr val="9DB7FF"/>
                </a:solidFill>
                <a:latin typeface="Consolas"/>
                <a:ea typeface="Consolas"/>
                <a:cs typeface="Consolas"/>
              </a:rPr>
              <a:t>        self.model = model       # Ollama | OpenAI</a:t>
            </a:r>
          </a:p>
          <a:p>
            <a:pPr algn="l">
              <a:lnSpc>
                <a:spcPct val="108000"/>
              </a:lnSpc>
              <a:spcAft>
                <a:spcPts val="0"/>
              </a:spcAft>
            </a:pPr>
            <a:r>
              <a:rPr sz="1300" b="0">
                <a:solidFill>
                  <a:srgbClr val="E6E9F2"/>
                </a:solidFill>
                <a:latin typeface="Consolas"/>
                <a:ea typeface="Consolas"/>
                <a:cs typeface="Consolas"/>
              </a:rPr>
              <a:t> </a:t>
            </a:r>
          </a:p>
          <a:p>
            <a:pPr algn="l">
              <a:lnSpc>
                <a:spcPct val="108000"/>
              </a:lnSpc>
              <a:spcAft>
                <a:spcPts val="0"/>
              </a:spcAft>
            </a:pPr>
            <a:r>
              <a:rPr sz="1300" b="0">
                <a:solidFill>
                  <a:srgbClr val="8FA1C7"/>
                </a:solidFill>
                <a:latin typeface="Consolas"/>
                <a:ea typeface="Consolas"/>
                <a:cs typeface="Consolas"/>
              </a:rPr>
              <a:t># production: real session + build_model()</a:t>
            </a:r>
          </a:p>
          <a:p>
            <a:pPr algn="l">
              <a:lnSpc>
                <a:spcPct val="108000"/>
              </a:lnSpc>
              <a:spcAft>
                <a:spcPts val="0"/>
              </a:spcAft>
            </a:pPr>
            <a:r>
              <a:rPr sz="1300" b="0">
                <a:solidFill>
                  <a:srgbClr val="8FA1C7"/>
                </a:solidFill>
                <a:latin typeface="Consolas"/>
                <a:ea typeface="Consolas"/>
                <a:cs typeface="Consolas"/>
              </a:rPr>
              <a:t># tests: FakeSession + ScriptedModel</a:t>
            </a:r>
          </a:p>
        </p:txBody>
      </p:sp>
      <p:sp>
        <p:nvSpPr>
          <p:cNvPr id="7" name="TextBox 6"/>
          <p:cNvSpPr txBox="1"/>
          <p:nvPr/>
        </p:nvSpPr>
        <p:spPr>
          <a:xfrm>
            <a:off x="548640" y="4626864"/>
            <a:ext cx="5760720" cy="274320"/>
          </a:xfrm>
          <a:prstGeom prst="rect">
            <a:avLst/>
          </a:prstGeom>
          <a:noFill/>
        </p:spPr>
        <p:txBody>
          <a:bodyPr wrap="square" anchor="t" lIns="0" rIns="0" tIns="0" bIns="0">
            <a:spAutoFit/>
          </a:bodyPr>
          <a:lstStyle/>
          <a:p>
            <a:pPr algn="l"/>
            <a:r>
              <a:rPr sz="1100" b="0">
                <a:solidFill>
                  <a:srgbClr val="5B6577"/>
                </a:solidFill>
                <a:latin typeface="Malgun Gothic"/>
                <a:ea typeface="Malgun Gothic"/>
                <a:cs typeface="Malgun Gothic"/>
              </a:rPr>
              <a:t>backend/app/agent/graph.py (발췌)</a:t>
            </a:r>
          </a:p>
        </p:txBody>
      </p:sp>
      <p:sp>
        <p:nvSpPr>
          <p:cNvPr id="8" name="TextBox 7"/>
          <p:cNvSpPr txBox="1"/>
          <p:nvPr/>
        </p:nvSpPr>
        <p:spPr>
          <a:xfrm>
            <a:off x="548640" y="5029200"/>
            <a:ext cx="5760720" cy="1188720"/>
          </a:xfrm>
          <a:prstGeom prst="rect">
            <a:avLst/>
          </a:prstGeom>
          <a:noFill/>
        </p:spPr>
        <p:txBody>
          <a:bodyPr wrap="square" anchor="t" lIns="0" rIns="0" tIns="0" bIns="0">
            <a:spAutoFit/>
          </a:bodyPr>
          <a:lstStyle/>
          <a:p>
            <a:pPr algn="l">
              <a:spcAft>
                <a:spcPts val="300"/>
              </a:spcAft>
            </a:pPr>
            <a:r>
              <a:rPr sz="1600" b="1">
                <a:solidFill>
                  <a:srgbClr val="1B2437"/>
                </a:solidFill>
                <a:latin typeface="Malgun Gothic"/>
                <a:ea typeface="Malgun Gothic"/>
                <a:cs typeface="Malgun Gothic"/>
              </a:rPr>
              <a:t>LLM 교체: WISH_LLM_BACKEND 환경변수 하나</a:t>
            </a:r>
          </a:p>
          <a:p>
            <a:pPr algn="l"/>
            <a:r>
              <a:rPr sz="1400" b="0">
                <a:solidFill>
                  <a:srgbClr val="5B6577"/>
                </a:solidFill>
                <a:latin typeface="Malgun Gothic"/>
                <a:ea typeface="Malgun Gothic"/>
                <a:cs typeface="Malgun Gothic"/>
              </a:rPr>
              <a:t>Ollama(개발) ↔ OpenAI(제출), 나머지 코드는 그대로</a:t>
            </a:r>
          </a:p>
        </p:txBody>
      </p:sp>
      <p:graphicFrame>
        <p:nvGraphicFramePr>
          <p:cNvPr id="9" name="Table 8"/>
          <p:cNvGraphicFramePr>
            <a:graphicFrameLocks noGrp="1"/>
          </p:cNvGraphicFramePr>
          <p:nvPr/>
        </p:nvGraphicFramePr>
        <p:xfrm>
          <a:off x="6583680" y="1417320"/>
          <a:ext cx="5120640" cy="3200400"/>
        </p:xfrm>
        <a:graphic>
          <a:graphicData uri="http://schemas.openxmlformats.org/drawingml/2006/table">
            <a:tbl>
              <a:tblPr firstRow="1" bandRow="0">
                <a:tableStyleId>{5C22544A-7EE6-4342-B048-85BDC9FD1C3A}</a:tableStyleId>
              </a:tblPr>
              <a:tblGrid>
                <a:gridCol w="3566160"/>
                <a:gridCol w="1554480"/>
              </a:tblGrid>
              <a:tr h="457200">
                <a:tc>
                  <a:txBody>
                    <a:bodyPr wrap="square"/>
                    <a:lstStyle/>
                    <a:p>
                      <a:pPr algn="l"/>
                      <a:r>
                        <a:rPr sz="1500" b="1">
                          <a:solidFill>
                            <a:srgbClr val="1B2437"/>
                          </a:solidFill>
                          <a:latin typeface="Malgun Gothic"/>
                          <a:ea typeface="Malgun Gothic"/>
                          <a:cs typeface="Malgun Gothic"/>
                        </a:rPr>
                        <a:t>백엔드 테스트 영역</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ctr"/>
                      <a:r>
                        <a:rPr sz="1500" b="1">
                          <a:solidFill>
                            <a:srgbClr val="1B2437"/>
                          </a:solidFill>
                          <a:latin typeface="Malgun Gothic"/>
                          <a:ea typeface="Malgun Gothic"/>
                          <a:cs typeface="Malgun Gothic"/>
                        </a:rPr>
                        <a:t>개수</a:t>
                      </a:r>
                    </a:p>
                  </a:txBody>
                  <a:tcPr marL="91440" marR="91440" marT="36576" marB="36576" anchor="ctr">
                    <a:lnL w="0">
                      <a:noFill/>
                    </a:lnL>
                    <a:lnR w="0">
                      <a:noFill/>
                    </a:lnR>
                    <a:lnT w="0">
                      <a:noFill/>
                    </a:lnT>
                    <a:lnB w="9525" cap="flat" cmpd="sng" algn="ctr">
                      <a:solidFill>
                        <a:srgbClr val="DDE2EC"/>
                      </a:solidFill>
                    </a:lnB>
                    <a:solidFill>
                      <a:srgbClr val="F3F5F9"/>
                    </a:solidFill>
                  </a:tcPr>
                </a:tc>
              </a:tr>
              <a:tr h="457200">
                <a:tc>
                  <a:txBody>
                    <a:bodyPr wrap="square"/>
                    <a:lstStyle/>
                    <a:p>
                      <a:pPr algn="l"/>
                      <a:r>
                        <a:rPr sz="1500" b="0">
                          <a:solidFill>
                            <a:srgbClr val="1B2437"/>
                          </a:solidFill>
                          <a:latin typeface="Malgun Gothic"/>
                          <a:ea typeface="Malgun Gothic"/>
                          <a:cs typeface="Malgun Gothic"/>
                        </a:rPr>
                        <a:t>Agent 그래프</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55</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500" b="0">
                          <a:solidFill>
                            <a:srgbClr val="1B2437"/>
                          </a:solidFill>
                          <a:latin typeface="Malgun Gothic"/>
                          <a:ea typeface="Malgun Gothic"/>
                          <a:cs typeface="Malgun Gothic"/>
                        </a:rPr>
                        <a:t>LLM 교체</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19</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500" b="0">
                          <a:solidFill>
                            <a:srgbClr val="1B2437"/>
                          </a:solidFill>
                          <a:latin typeface="Malgun Gothic"/>
                          <a:ea typeface="Malgun Gothic"/>
                          <a:cs typeface="Malgun Gothic"/>
                        </a:rPr>
                        <a:t>자막·검색</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37</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500" b="0">
                          <a:solidFill>
                            <a:srgbClr val="1B2437"/>
                          </a:solidFill>
                          <a:latin typeface="Malgun Gothic"/>
                          <a:ea typeface="Malgun Gothic"/>
                          <a:cs typeface="Malgun Gothic"/>
                        </a:rPr>
                        <a:t>설정·API·실시간 전송</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33</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500" b="0">
                          <a:solidFill>
                            <a:srgbClr val="1B2437"/>
                          </a:solidFill>
                          <a:latin typeface="Malgun Gothic"/>
                          <a:ea typeface="Malgun Gothic"/>
                          <a:cs typeface="Malgun Gothic"/>
                        </a:rPr>
                        <a:t>평가 도구</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32</a:t>
                      </a:r>
                    </a:p>
                  </a:txBody>
                  <a:tcPr marL="91440" marR="91440" marT="36576" marB="36576" anchor="ctr">
                    <a:lnL w="0">
                      <a:noFill/>
                    </a:lnL>
                    <a:lnR w="0">
                      <a:noFill/>
                    </a:lnR>
                    <a:lnT w="0">
                      <a:noFill/>
                    </a:lnT>
                    <a:lnB w="9525" cap="flat" cmpd="sng" algn="ctr">
                      <a:solidFill>
                        <a:srgbClr val="DDE2EC"/>
                      </a:solidFill>
                    </a:lnB>
                    <a:solidFill>
                      <a:srgbClr val="FFFFFF"/>
                    </a:solidFill>
                  </a:tcPr>
                </a:tc>
              </a:tr>
              <a:tr h="457200">
                <a:tc>
                  <a:txBody>
                    <a:bodyPr wrap="square"/>
                    <a:lstStyle/>
                    <a:p>
                      <a:pPr algn="l"/>
                      <a:r>
                        <a:rPr sz="1500" b="0">
                          <a:solidFill>
                            <a:srgbClr val="1B2437"/>
                          </a:solidFill>
                          <a:latin typeface="Malgun Gothic"/>
                          <a:ea typeface="Malgun Gothic"/>
                          <a:cs typeface="Malgun Gothic"/>
                        </a:rPr>
                        <a:t>실제 MCP 통신</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ctr"/>
                      <a:r>
                        <a:rPr sz="1500" b="0">
                          <a:solidFill>
                            <a:srgbClr val="1B2437"/>
                          </a:solidFill>
                          <a:latin typeface="Malgun Gothic"/>
                          <a:ea typeface="Malgun Gothic"/>
                          <a:cs typeface="Malgun Gothic"/>
                        </a:rPr>
                        <a:t>2</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
        <p:nvSpPr>
          <p:cNvPr id="10" name="TextBox 9"/>
          <p:cNvSpPr txBox="1"/>
          <p:nvPr/>
        </p:nvSpPr>
        <p:spPr>
          <a:xfrm>
            <a:off x="6583680" y="4754880"/>
            <a:ext cx="5120640" cy="1188720"/>
          </a:xfrm>
          <a:prstGeom prst="rect">
            <a:avLst/>
          </a:prstGeom>
          <a:noFill/>
        </p:spPr>
        <p:txBody>
          <a:bodyPr wrap="square" anchor="t" lIns="0" rIns="0" tIns="0" bIns="0">
            <a:spAutoFit/>
          </a:bodyPr>
          <a:lstStyle/>
          <a:p>
            <a:pPr algn="l">
              <a:spcAft>
                <a:spcPts val="300"/>
              </a:spcAft>
            </a:pPr>
            <a:r>
              <a:rPr sz="1500" b="1">
                <a:solidFill>
                  <a:srgbClr val="1B2437"/>
                </a:solidFill>
                <a:latin typeface="Malgun Gothic"/>
                <a:ea typeface="Malgun Gothic"/>
                <a:cs typeface="Malgun Gothic"/>
              </a:rPr>
              <a:t>백엔드 178개 통과 · 프런트 43개 통과</a:t>
            </a:r>
          </a:p>
          <a:p>
            <a:pPr algn="l"/>
            <a:r>
              <a:rPr sz="1300" b="0">
                <a:solidFill>
                  <a:srgbClr val="5B6577"/>
                </a:solidFill>
                <a:latin typeface="Malgun Gothic"/>
                <a:ea typeface="Malgun Gothic"/>
                <a:cs typeface="Malgun Gothic"/>
              </a:rPr>
              <a:t>모델은 가짜로 대신해 과금 없음, 실제 stdio MCP 서버 테스트 포함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[백업] 이중 첫 검색: 번역 어휘 차이를 질문 원문 검색으로 보완</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11</a:t>
            </a:r>
          </a:p>
        </p:txBody>
      </p:sp>
      <p:sp>
        <p:nvSpPr>
          <p:cNvPr id="5" name="Rounded Rectangle 4"/>
          <p:cNvSpPr/>
          <p:nvPr/>
        </p:nvSpPr>
        <p:spPr>
          <a:xfrm>
            <a:off x="548640" y="1463040"/>
            <a:ext cx="3566160" cy="2743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645920"/>
            <a:ext cx="914400" cy="411480"/>
          </a:xfrm>
          <a:prstGeom prst="roundRect">
            <a:avLst>
              <a:gd name="adj" fmla="val 30000"/>
            </a:avLst>
          </a:prstGeom>
          <a:solidFill>
            <a:srgbClr val="2457D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600" b="1">
                <a:solidFill>
                  <a:srgbClr val="FFFFFF"/>
                </a:solidFill>
                <a:latin typeface="Malgun Gothic"/>
                <a:ea typeface="Malgun Gothic"/>
                <a:cs typeface="Malgun Gothic"/>
              </a:rPr>
              <a:t>문제</a:t>
            </a:r>
          </a:p>
        </p:txBody>
      </p:sp>
      <p:sp>
        <p:nvSpPr>
          <p:cNvPr id="7" name="TextBox 6"/>
          <p:cNvSpPr txBox="1"/>
          <p:nvPr/>
        </p:nvSpPr>
        <p:spPr>
          <a:xfrm>
            <a:off x="777240" y="2240280"/>
            <a:ext cx="3154680" cy="1828800"/>
          </a:xfrm>
          <a:prstGeom prst="rect">
            <a:avLst/>
          </a:prstGeom>
          <a:noFill/>
        </p:spPr>
        <p:txBody>
          <a:bodyPr wrap="square" anchor="t" lIns="0" rIns="0" tIns="0" bIns="0">
            <a:spAutoFit/>
          </a:bodyPr>
          <a:lstStyle/>
          <a:p>
            <a:pPr algn="l">
              <a:spcAft>
                <a:spcPts val="600"/>
              </a:spcAft>
            </a:pPr>
            <a:r>
              <a:rPr sz="1600" b="0">
                <a:solidFill>
                  <a:srgbClr val="1B2437"/>
                </a:solidFill>
                <a:latin typeface="Malgun Gothic"/>
                <a:ea typeface="Malgun Gothic"/>
                <a:cs typeface="Malgun Gothic"/>
              </a:rPr>
              <a:t>Router 검색어: "manitto"</a:t>
            </a:r>
          </a:p>
          <a:p>
            <a:pPr algn="l">
              <a:spcAft>
                <a:spcPts val="600"/>
              </a:spcAft>
            </a:pPr>
            <a:r>
              <a:rPr sz="1600" b="0">
                <a:solidFill>
                  <a:srgbClr val="1B2437"/>
                </a:solidFill>
                <a:latin typeface="Malgun Gothic"/>
                <a:ea typeface="Malgun Gothic"/>
                <a:cs typeface="Malgun Gothic"/>
              </a:rPr>
              <a:t>자막: "Secret Santa"</a:t>
            </a:r>
          </a:p>
          <a:p>
            <a:pPr algn="l">
              <a:spcAft>
                <a:spcPts val="600"/>
              </a:spcAft>
            </a:pPr>
            <a:r>
              <a:rPr sz="1600" b="0">
                <a:solidFill>
                  <a:srgbClr val="1B2437"/>
                </a:solidFill>
                <a:latin typeface="Malgun Gothic"/>
                <a:ea typeface="Malgun Gothic"/>
                <a:cs typeface="Malgun Gothic"/>
              </a:rPr>
              <a:t>→ 같은 의미인데 못 찾음</a:t>
            </a:r>
          </a:p>
        </p:txBody>
      </p:sp>
      <p:sp>
        <p:nvSpPr>
          <p:cNvPr id="8" name="Rounded Rectangle 7"/>
          <p:cNvSpPr/>
          <p:nvPr/>
        </p:nvSpPr>
        <p:spPr>
          <a:xfrm>
            <a:off x="4297679" y="1463040"/>
            <a:ext cx="3566160" cy="2743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26279" y="1645920"/>
            <a:ext cx="914400" cy="411480"/>
          </a:xfrm>
          <a:prstGeom prst="roundRect">
            <a:avLst>
              <a:gd name="adj" fmla="val 30000"/>
            </a:avLst>
          </a:prstGeom>
          <a:solidFill>
            <a:srgbClr val="2457D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600" b="1">
                <a:solidFill>
                  <a:srgbClr val="FFFFFF"/>
                </a:solidFill>
                <a:latin typeface="Malgun Gothic"/>
                <a:ea typeface="Malgun Gothic"/>
                <a:cs typeface="Malgun Gothic"/>
              </a:rPr>
              <a:t>방법</a:t>
            </a:r>
          </a:p>
        </p:txBody>
      </p:sp>
      <p:sp>
        <p:nvSpPr>
          <p:cNvPr id="10" name="TextBox 9"/>
          <p:cNvSpPr txBox="1"/>
          <p:nvPr/>
        </p:nvSpPr>
        <p:spPr>
          <a:xfrm>
            <a:off x="4526279" y="2240280"/>
            <a:ext cx="3154680" cy="1828800"/>
          </a:xfrm>
          <a:prstGeom prst="rect">
            <a:avLst/>
          </a:prstGeom>
          <a:noFill/>
        </p:spPr>
        <p:txBody>
          <a:bodyPr wrap="square" anchor="t" lIns="0" rIns="0" tIns="0" bIns="0">
            <a:spAutoFit/>
          </a:bodyPr>
          <a:lstStyle/>
          <a:p>
            <a:pPr algn="l">
              <a:spcAft>
                <a:spcPts val="600"/>
              </a:spcAft>
            </a:pPr>
            <a:r>
              <a:rPr sz="1600" b="0">
                <a:solidFill>
                  <a:srgbClr val="1B2437"/>
                </a:solidFill>
                <a:latin typeface="Malgun Gothic"/>
                <a:ea typeface="Malgun Gothic"/>
                <a:cs typeface="Malgun Gothic"/>
              </a:rPr>
              <a:t>Router 검색어 + 질문 원문</a:t>
            </a:r>
          </a:p>
          <a:p>
            <a:pPr algn="l">
              <a:spcAft>
                <a:spcPts val="600"/>
              </a:spcAft>
            </a:pPr>
            <a:r>
              <a:rPr sz="1600" b="0">
                <a:solidFill>
                  <a:srgbClr val="1B2437"/>
                </a:solidFill>
                <a:latin typeface="Malgun Gothic"/>
                <a:ea typeface="Malgun Gothic"/>
                <a:cs typeface="Malgun Gothic"/>
              </a:rPr>
              <a:t>두 검색을 함께 실행하고</a:t>
            </a:r>
          </a:p>
          <a:p>
            <a:pPr algn="l">
              <a:spcAft>
                <a:spcPts val="600"/>
              </a:spcAft>
            </a:pPr>
            <a:r>
              <a:rPr sz="1600" b="0">
                <a:solidFill>
                  <a:srgbClr val="1B2437"/>
                </a:solidFill>
                <a:latin typeface="Malgun Gothic"/>
                <a:ea typeface="Malgun Gothic"/>
                <a:cs typeface="Malgun Gothic"/>
              </a:rPr>
              <a:t>순위를 번갈아 채워 후보 3개</a:t>
            </a:r>
          </a:p>
        </p:txBody>
      </p:sp>
      <p:sp>
        <p:nvSpPr>
          <p:cNvPr id="11" name="Rounded Rectangle 10"/>
          <p:cNvSpPr/>
          <p:nvPr/>
        </p:nvSpPr>
        <p:spPr>
          <a:xfrm>
            <a:off x="8046719" y="1463040"/>
            <a:ext cx="3566160" cy="2743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75319" y="1645920"/>
            <a:ext cx="914400" cy="411480"/>
          </a:xfrm>
          <a:prstGeom prst="roundRect">
            <a:avLst>
              <a:gd name="adj" fmla="val 30000"/>
            </a:avLst>
          </a:prstGeom>
          <a:solidFill>
            <a:srgbClr val="2457D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600" b="1">
                <a:solidFill>
                  <a:srgbClr val="FFFFFF"/>
                </a:solidFill>
                <a:latin typeface="Malgun Gothic"/>
                <a:ea typeface="Malgun Gothic"/>
                <a:cs typeface="Malgun Gothic"/>
              </a:rPr>
              <a:t>확인</a:t>
            </a:r>
          </a:p>
        </p:txBody>
      </p:sp>
      <p:sp>
        <p:nvSpPr>
          <p:cNvPr id="13" name="TextBox 12"/>
          <p:cNvSpPr txBox="1"/>
          <p:nvPr/>
        </p:nvSpPr>
        <p:spPr>
          <a:xfrm>
            <a:off x="8275319" y="2240280"/>
            <a:ext cx="3154680" cy="1828800"/>
          </a:xfrm>
          <a:prstGeom prst="rect">
            <a:avLst/>
          </a:prstGeom>
          <a:noFill/>
        </p:spPr>
        <p:txBody>
          <a:bodyPr wrap="square" anchor="t" lIns="0" rIns="0" tIns="0" bIns="0">
            <a:spAutoFit/>
          </a:bodyPr>
          <a:lstStyle/>
          <a:p>
            <a:pPr algn="l">
              <a:spcAft>
                <a:spcPts val="600"/>
              </a:spcAft>
            </a:pPr>
            <a:r>
              <a:rPr sz="1600" b="0">
                <a:solidFill>
                  <a:srgbClr val="1B2437"/>
                </a:solidFill>
                <a:latin typeface="Malgun Gothic"/>
                <a:ea typeface="Malgun Gothic"/>
                <a:cs typeface="Malgun Gothic"/>
              </a:rPr>
              <a:t>마니또: 못 찾음 → 찾음</a:t>
            </a:r>
          </a:p>
          <a:p>
            <a:pPr algn="l">
              <a:spcAft>
                <a:spcPts val="600"/>
              </a:spcAft>
            </a:pPr>
            <a:r>
              <a:rPr sz="1600" b="0">
                <a:solidFill>
                  <a:srgbClr val="1B2437"/>
                </a:solidFill>
                <a:latin typeface="Malgun Gothic"/>
                <a:ea typeface="Malgun Gothic"/>
                <a:cs typeface="Malgun Gothic"/>
              </a:rPr>
              <a:t>대가: 질문당 약 1~2초 증가</a:t>
            </a:r>
          </a:p>
          <a:p>
            <a:pPr algn="l">
              <a:spcAft>
                <a:spcPts val="600"/>
              </a:spcAft>
            </a:pPr>
            <a:r>
              <a:rPr sz="1600" b="0">
                <a:solidFill>
                  <a:srgbClr val="1B2437"/>
                </a:solidFill>
                <a:latin typeface="Malgun Gothic"/>
                <a:ea typeface="Malgun Gothic"/>
                <a:cs typeface="Malgun Gothic"/>
              </a:rPr>
              <a:t>평가셋 20문항: 16 → 16, 이득 없음</a:t>
            </a:r>
          </a:p>
        </p:txBody>
      </p:sp>
      <p:sp>
        <p:nvSpPr>
          <p:cNvPr id="14" name="Rounded Rectangle 13"/>
          <p:cNvSpPr/>
          <p:nvPr/>
        </p:nvSpPr>
        <p:spPr>
          <a:xfrm>
            <a:off x="548640" y="4480560"/>
            <a:ext cx="11064240" cy="15544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572000"/>
            <a:ext cx="10515600" cy="1371600"/>
          </a:xfrm>
          <a:prstGeom prst="rect">
            <a:avLst/>
          </a:prstGeom>
          <a:noFill/>
        </p:spPr>
        <p:txBody>
          <a:bodyPr wrap="square" anchor="ctr" lIns="0" rIns="0" tIns="0" bIns="0">
            <a:spAutoFit/>
          </a:bodyPr>
          <a:lstStyle/>
          <a:p>
            <a:pPr algn="l">
              <a:spcAft>
                <a:spcPts val="400"/>
              </a:spcAft>
            </a:pPr>
            <a:r>
              <a:rPr sz="1800" b="1">
                <a:solidFill>
                  <a:srgbClr val="1B2437"/>
                </a:solidFill>
                <a:latin typeface="Malgun Gothic"/>
                <a:ea typeface="Malgun Gothic"/>
                <a:cs typeface="Malgun Gothic"/>
              </a:rPr>
              <a:t>구현 중에 발견한 성능 저하</a:t>
            </a:r>
          </a:p>
          <a:p>
            <a:pPr algn="l">
              <a:lnSpc>
                <a:spcPct val="110000"/>
              </a:lnSpc>
            </a:pPr>
            <a:r>
              <a:rPr sz="1500" b="0">
                <a:solidFill>
                  <a:srgbClr val="1B2437"/>
                </a:solidFill>
                <a:latin typeface="Malgun Gothic"/>
                <a:ea typeface="Malgun Gothic"/>
                <a:cs typeface="Malgun Gothic"/>
              </a:rPr>
              <a:t>코드 리뷰 반영 중 점수 합산 방식으로 바꿨더니 단위 테스트는 통과했지만 실제 자막에서 정답이 후보 3개 밖으로 밀렸다 ("구운 오징어": 45:53 → 42:41). 원인을 확인하고 순위를 번갈아 채우는 방식으로 고쳐 테스트로 고정했다.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868680"/>
          </a:xfrm>
          <a:prstGeom prst="rect">
            <a:avLst/>
          </a:prstGeom>
          <a:noFill/>
        </p:spPr>
        <p:txBody>
          <a:bodyPr wrap="square" anchor="ctr" lIns="0" rIns="0" tIns="0" bIns="0">
            <a:spAutoFit/>
          </a:bodyPr>
          <a:lstStyle/>
          <a:p>
            <a:pPr algn="l">
              <a:lnSpc>
                <a:spcPct val="100000"/>
              </a:lnSpc>
            </a:pPr>
            <a:r>
              <a:rPr sz="3000" b="1">
                <a:solidFill>
                  <a:srgbClr val="1B2437"/>
                </a:solidFill>
                <a:latin typeface="Malgun Gothic"/>
                <a:ea typeface="Malgun Gothic"/>
                <a:cs typeface="Malgun Gothic"/>
              </a:rPr>
              <a:t>[백업] 기술 요소 정리와 Multi-Agent를 쓰지 않은 이유</a:t>
            </a:r>
          </a:p>
        </p:txBody>
      </p:sp>
      <p:sp>
        <p:nvSpPr>
          <p:cNvPr id="3" name="TextBox 2"/>
          <p:cNvSpPr txBox="1"/>
          <p:nvPr/>
        </p:nvSpPr>
        <p:spPr>
          <a:xfrm>
            <a:off x="548640" y="6428232"/>
            <a:ext cx="5486400" cy="274320"/>
          </a:xfrm>
          <a:prstGeom prst="rect">
            <a:avLst/>
          </a:prstGeom>
          <a:noFill/>
        </p:spPr>
        <p:txBody>
          <a:bodyPr wrap="square" anchor="t" lIns="0" rIns="0" tIns="0" bIns="0">
            <a:spAutoFit/>
          </a:bodyPr>
          <a:lstStyle/>
          <a:p>
            <a:pPr algn="l"/>
            <a:r>
              <a:rPr sz="1100" b="0">
                <a:solidFill>
                  <a:srgbClr val="8A93A8"/>
                </a:solidFill>
                <a:latin typeface="Malgun Gothic"/>
                <a:ea typeface="Malgun Gothic"/>
                <a:cs typeface="Malgun Gothic"/>
              </a:rPr>
              <a:t>G078 문희주  ·  WISH FINDER</a:t>
            </a:r>
          </a:p>
        </p:txBody>
      </p:sp>
      <p:sp>
        <p:nvSpPr>
          <p:cNvPr id="4" name="TextBox 3"/>
          <p:cNvSpPr txBox="1"/>
          <p:nvPr/>
        </p:nvSpPr>
        <p:spPr>
          <a:xfrm>
            <a:off x="10881360" y="6428232"/>
            <a:ext cx="777240" cy="274320"/>
          </a:xfrm>
          <a:prstGeom prst="rect">
            <a:avLst/>
          </a:prstGeom>
          <a:noFill/>
        </p:spPr>
        <p:txBody>
          <a:bodyPr wrap="square" anchor="t" lIns="0" rIns="0" tIns="0" bIns="0">
            <a:spAutoFit/>
          </a:bodyPr>
          <a:lstStyle/>
          <a:p>
            <a:pPr algn="r"/>
            <a:r>
              <a:rPr sz="1100" b="0">
                <a:solidFill>
                  <a:srgbClr val="8A93A8"/>
                </a:solidFill>
                <a:latin typeface="Malgun Gothic"/>
                <a:ea typeface="Malgun Gothic"/>
                <a:cs typeface="Malgun Gothic"/>
              </a:rPr>
              <a:t>12</a:t>
            </a:r>
          </a:p>
        </p:txBody>
      </p:sp>
      <p:graphicFrame>
        <p:nvGraphicFramePr>
          <p:cNvPr id="5" name="Table 4"/>
          <p:cNvGraphicFramePr>
            <a:graphicFrameLocks noGrp="1"/>
          </p:cNvGraphicFramePr>
          <p:nvPr/>
        </p:nvGraphicFramePr>
        <p:xfrm>
          <a:off x="548640" y="1417320"/>
          <a:ext cx="6400800" cy="4096512"/>
        </p:xfrm>
        <a:graphic>
          <a:graphicData uri="http://schemas.openxmlformats.org/drawingml/2006/table">
            <a:tbl>
              <a:tblPr firstRow="1" bandRow="0">
                <a:tableStyleId>{5C22544A-7EE6-4342-B048-85BDC9FD1C3A}</a:tableStyleId>
              </a:tblPr>
              <a:tblGrid>
                <a:gridCol w="1737360"/>
                <a:gridCol w="4663440"/>
              </a:tblGrid>
              <a:tr h="512064">
                <a:tc>
                  <a:txBody>
                    <a:bodyPr wrap="square"/>
                    <a:lstStyle/>
                    <a:p>
                      <a:pPr algn="l"/>
                      <a:r>
                        <a:rPr sz="1500" b="1">
                          <a:solidFill>
                            <a:srgbClr val="1B2437"/>
                          </a:solidFill>
                          <a:latin typeface="Malgun Gothic"/>
                          <a:ea typeface="Malgun Gothic"/>
                          <a:cs typeface="Malgun Gothic"/>
                        </a:rPr>
                        <a:t>기술 요소</a:t>
                      </a:r>
                    </a:p>
                  </a:txBody>
                  <a:tcPr marL="91440" marR="91440" marT="36576" marB="36576" anchor="ctr">
                    <a:lnL w="0">
                      <a:noFill/>
                    </a:lnL>
                    <a:lnR w="0">
                      <a:noFill/>
                    </a:lnR>
                    <a:lnT w="0">
                      <a:noFill/>
                    </a:lnT>
                    <a:lnB w="9525" cap="flat" cmpd="sng" algn="ctr">
                      <a:solidFill>
                        <a:srgbClr val="DDE2EC"/>
                      </a:solidFill>
                    </a:lnB>
                    <a:solidFill>
                      <a:srgbClr val="F3F5F9"/>
                    </a:solidFill>
                  </a:tcPr>
                </a:tc>
                <a:tc>
                  <a:txBody>
                    <a:bodyPr wrap="square"/>
                    <a:lstStyle/>
                    <a:p>
                      <a:pPr algn="l"/>
                      <a:r>
                        <a:rPr sz="1500" b="1">
                          <a:solidFill>
                            <a:srgbClr val="1B2437"/>
                          </a:solidFill>
                          <a:latin typeface="Malgun Gothic"/>
                          <a:ea typeface="Malgun Gothic"/>
                          <a:cs typeface="Malgun Gothic"/>
                        </a:rPr>
                        <a:t>이 프로젝트에서</a:t>
                      </a:r>
                    </a:p>
                  </a:txBody>
                  <a:tcPr marL="91440" marR="91440" marT="36576" marB="36576" anchor="ctr">
                    <a:lnL w="0">
                      <a:noFill/>
                    </a:lnL>
                    <a:lnR w="0">
                      <a:noFill/>
                    </a:lnR>
                    <a:lnT w="0">
                      <a:noFill/>
                    </a:lnT>
                    <a:lnB w="9525" cap="flat" cmpd="sng" algn="ctr">
                      <a:solidFill>
                        <a:srgbClr val="DDE2EC"/>
                      </a:solidFill>
                    </a:lnB>
                    <a:solidFill>
                      <a:srgbClr val="F3F5F9"/>
                    </a:solidFill>
                  </a:tcPr>
                </a:tc>
              </a:tr>
              <a:tr h="512064">
                <a:tc>
                  <a:txBody>
                    <a:bodyPr wrap="square"/>
                    <a:lstStyle/>
                    <a:p>
                      <a:pPr algn="l"/>
                      <a:r>
                        <a:rPr sz="1500" b="0">
                          <a:solidFill>
                            <a:srgbClr val="1B2437"/>
                          </a:solidFill>
                          <a:latin typeface="Malgun Gothic"/>
                          <a:ea typeface="Malgun Gothic"/>
                          <a:cs typeface="Malgun Gothic"/>
                        </a:rPr>
                        <a:t>Multi-Agent</a:t>
                      </a:r>
                    </a:p>
                  </a:txBody>
                  <a:tcPr marL="91440" marR="91440" marT="36576" marB="36576" anchor="ctr">
                    <a:lnL w="0">
                      <a:noFill/>
                    </a:lnL>
                    <a:lnR w="0">
                      <a:noFill/>
                    </a:lnR>
                    <a:lnT w="0">
                      <a:noFill/>
                    </a:lnT>
                    <a:lnB w="9525" cap="flat" cmpd="sng" algn="ctr">
                      <a:solidFill>
                        <a:srgbClr val="DDE2EC"/>
                      </a:solidFill>
                    </a:lnB>
                    <a:solidFill>
                      <a:srgbClr val="E8EEFC"/>
                    </a:solidFill>
                  </a:tcPr>
                </a:tc>
                <a:tc>
                  <a:txBody>
                    <a:bodyPr wrap="square"/>
                    <a:lstStyle/>
                    <a:p>
                      <a:pPr algn="l"/>
                      <a:r>
                        <a:rPr sz="1500" b="0">
                          <a:solidFill>
                            <a:srgbClr val="1B2437"/>
                          </a:solidFill>
                          <a:latin typeface="Malgun Gothic"/>
                          <a:ea typeface="Malgun Gothic"/>
                          <a:cs typeface="Malgun Gothic"/>
                        </a:rPr>
                        <a:t>미구현 (단일 Agent 워크플로)</a:t>
                      </a:r>
                    </a:p>
                  </a:txBody>
                  <a:tcPr marL="91440" marR="91440" marT="36576" marB="36576" anchor="ctr">
                    <a:lnL w="0">
                      <a:noFill/>
                    </a:lnL>
                    <a:lnR w="0">
                      <a:noFill/>
                    </a:lnR>
                    <a:lnT w="0">
                      <a:noFill/>
                    </a:lnT>
                    <a:lnB w="9525" cap="flat" cmpd="sng" algn="ctr">
                      <a:solidFill>
                        <a:srgbClr val="DDE2EC"/>
                      </a:solidFill>
                    </a:lnB>
                    <a:solidFill>
                      <a:srgbClr val="E8EEFC"/>
                    </a:solidFill>
                  </a:tcPr>
                </a:tc>
              </a:tr>
              <a:tr h="512064">
                <a:tc>
                  <a:txBody>
                    <a:bodyPr wrap="square"/>
                    <a:lstStyle/>
                    <a:p>
                      <a:pPr algn="l"/>
                      <a:r>
                        <a:rPr sz="1500" b="0">
                          <a:solidFill>
                            <a:srgbClr val="1B2437"/>
                          </a:solidFill>
                          <a:latin typeface="Malgun Gothic"/>
                          <a:ea typeface="Malgun Gothic"/>
                          <a:cs typeface="Malgun Gothic"/>
                        </a:rPr>
                        <a:t>MCP</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공식 SDK 2.x, 도구 4개, stdio</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500" b="0">
                          <a:solidFill>
                            <a:srgbClr val="1B2437"/>
                          </a:solidFill>
                          <a:latin typeface="Malgun Gothic"/>
                          <a:ea typeface="Malgun Gothic"/>
                          <a:cs typeface="Malgun Gothic"/>
                        </a:rPr>
                        <a:t>RAG</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BM25 + bge-m3 + RRF, 원본 cue</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500" b="0">
                          <a:solidFill>
                            <a:srgbClr val="1B2437"/>
                          </a:solidFill>
                          <a:latin typeface="Malgun Gothic"/>
                          <a:ea typeface="Malgun Gothic"/>
                          <a:cs typeface="Malgun Gothic"/>
                        </a:rPr>
                        <a:t>의존성 주입</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생성자 주입, LLM 환경변수 교체</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500" b="0">
                          <a:solidFill>
                            <a:srgbClr val="1B2437"/>
                          </a:solidFill>
                          <a:latin typeface="Malgun Gothic"/>
                          <a:ea typeface="Malgun Gothic"/>
                          <a:cs typeface="Malgun Gothic"/>
                        </a:rPr>
                        <a:t>LangSmith</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노드·LLM 호출·토큰 추적</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500" b="0">
                          <a:solidFill>
                            <a:srgbClr val="1B2437"/>
                          </a:solidFill>
                          <a:latin typeface="Malgun Gothic"/>
                          <a:ea typeface="Malgun Gothic"/>
                          <a:cs typeface="Malgun Gothic"/>
                        </a:rPr>
                        <a:t>모듈화</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agent / mcp / retrieval / services</a:t>
                      </a:r>
                    </a:p>
                  </a:txBody>
                  <a:tcPr marL="91440" marR="91440" marT="36576" marB="36576" anchor="ctr">
                    <a:lnL w="0">
                      <a:noFill/>
                    </a:lnL>
                    <a:lnR w="0">
                      <a:noFill/>
                    </a:lnR>
                    <a:lnT w="0">
                      <a:noFill/>
                    </a:lnT>
                    <a:lnB w="9525" cap="flat" cmpd="sng" algn="ctr">
                      <a:solidFill>
                        <a:srgbClr val="DDE2EC"/>
                      </a:solidFill>
                    </a:lnB>
                    <a:solidFill>
                      <a:srgbClr val="FFFFFF"/>
                    </a:solidFill>
                  </a:tcPr>
                </a:tc>
              </a:tr>
              <a:tr h="512064">
                <a:tc>
                  <a:txBody>
                    <a:bodyPr wrap="square"/>
                    <a:lstStyle/>
                    <a:p>
                      <a:pPr algn="l"/>
                      <a:r>
                        <a:rPr sz="1500" b="0">
                          <a:solidFill>
                            <a:srgbClr val="1B2437"/>
                          </a:solidFill>
                          <a:latin typeface="Malgun Gothic"/>
                          <a:ea typeface="Malgun Gothic"/>
                          <a:cs typeface="Malgun Gothic"/>
                        </a:rPr>
                        <a:t>단위 테스트</a:t>
                      </a:r>
                    </a:p>
                  </a:txBody>
                  <a:tcPr marL="91440" marR="91440" marT="36576" marB="36576" anchor="ctr">
                    <a:lnL w="0">
                      <a:noFill/>
                    </a:lnL>
                    <a:lnR w="0">
                      <a:noFill/>
                    </a:lnR>
                    <a:lnT w="0">
                      <a:noFill/>
                    </a:lnT>
                    <a:lnB w="9525" cap="flat" cmpd="sng" algn="ctr">
                      <a:solidFill>
                        <a:srgbClr val="DDE2EC"/>
                      </a:solidFill>
                    </a:lnB>
                    <a:solidFill>
                      <a:srgbClr val="FFFFFF"/>
                    </a:solidFill>
                  </a:tcPr>
                </a:tc>
                <a:tc>
                  <a:txBody>
                    <a:bodyPr wrap="square"/>
                    <a:lstStyle/>
                    <a:p>
                      <a:pPr algn="l"/>
                      <a:r>
                        <a:rPr sz="1500" b="0">
                          <a:solidFill>
                            <a:srgbClr val="1B2437"/>
                          </a:solidFill>
                          <a:latin typeface="Malgun Gothic"/>
                          <a:ea typeface="Malgun Gothic"/>
                          <a:cs typeface="Malgun Gothic"/>
                        </a:rPr>
                        <a:t>백엔드 178 · 프런트 43</a:t>
                      </a:r>
                    </a:p>
                  </a:txBody>
                  <a:tcPr marL="91440" marR="91440" marT="36576" marB="36576" anchor="ctr">
                    <a:lnL w="0">
                      <a:noFill/>
                    </a:lnL>
                    <a:lnR w="0">
                      <a:noFill/>
                    </a:lnR>
                    <a:lnT w="0">
                      <a:noFill/>
                    </a:lnT>
                    <a:lnB w="9525" cap="flat" cmpd="sng" algn="ctr">
                      <a:solidFill>
                        <a:srgbClr val="DDE2EC"/>
                      </a:solidFill>
                    </a:lnB>
                    <a:solidFill>
                      <a:srgbClr val="FFFFFF"/>
                    </a:solidFill>
                  </a:tcPr>
                </a:tc>
              </a:tr>
            </a:tbl>
          </a:graphicData>
        </a:graphic>
      </p:graphicFrame>
      <p:sp>
        <p:nvSpPr>
          <p:cNvPr id="6" name="Rounded Rectangle 5"/>
          <p:cNvSpPr/>
          <p:nvPr/>
        </p:nvSpPr>
        <p:spPr>
          <a:xfrm>
            <a:off x="7223760" y="1417320"/>
            <a:ext cx="4480560" cy="4114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52360" y="1554480"/>
            <a:ext cx="4023360" cy="3840480"/>
          </a:xfrm>
          <a:prstGeom prst="rect">
            <a:avLst/>
          </a:prstGeom>
          <a:noFill/>
        </p:spPr>
        <p:txBody>
          <a:bodyPr wrap="square" anchor="t" lIns="0" rIns="0" tIns="0" bIns="0">
            <a:spAutoFit/>
          </a:bodyPr>
          <a:lstStyle/>
          <a:p>
            <a:pPr algn="l">
              <a:spcAft>
                <a:spcPts val="600"/>
              </a:spcAft>
            </a:pPr>
            <a:r>
              <a:rPr sz="1700" b="1">
                <a:solidFill>
                  <a:srgbClr val="1B2437"/>
                </a:solidFill>
                <a:latin typeface="Malgun Gothic"/>
                <a:ea typeface="Malgun Gothic"/>
                <a:cs typeface="Malgun Gothic"/>
              </a:rPr>
              <a:t>Multi-Agent를 쓰지 않은 이유</a:t>
            </a:r>
          </a:p>
          <a:p>
            <a:pPr algn="l">
              <a:spcAft>
                <a:spcPts val="400"/>
              </a:spcAft>
            </a:pPr>
            <a:r>
              <a:rPr sz="1400" b="0">
                <a:solidFill>
                  <a:srgbClr val="1B2437"/>
                </a:solidFill>
                <a:latin typeface="Malgun Gothic"/>
                <a:ea typeface="Malgun Gothic"/>
                <a:cs typeface="Malgun Gothic"/>
              </a:rPr>
              <a:t>일이 순서대로 짧고 병렬로 할 일이 없다</a:t>
            </a:r>
          </a:p>
          <a:p>
            <a:pPr algn="l">
              <a:spcAft>
                <a:spcPts val="400"/>
              </a:spcAft>
            </a:pPr>
            <a:r>
              <a:rPr sz="1400" b="0">
                <a:solidFill>
                  <a:srgbClr val="1B2437"/>
                </a:solidFill>
                <a:latin typeface="Malgun Gothic"/>
                <a:ea typeface="Malgun Gothic"/>
                <a:cs typeface="Malgun Gothic"/>
              </a:rPr>
              <a:t>Supervisor는 LLM 호출·지연·실패 지점을 늘린다</a:t>
            </a:r>
          </a:p>
          <a:p>
            <a:pPr algn="l">
              <a:spcAft>
                <a:spcPts val="1000"/>
              </a:spcAft>
            </a:pPr>
            <a:r>
              <a:rPr sz="1400" b="0">
                <a:solidFill>
                  <a:srgbClr val="1B2437"/>
                </a:solidFill>
                <a:latin typeface="Malgun Gothic"/>
                <a:ea typeface="Malgun Gothic"/>
                <a:cs typeface="Malgun Gothic"/>
              </a:rPr>
              <a:t>실제 원인은 구조가 아니라 어휘였다</a:t>
            </a:r>
          </a:p>
          <a:p>
            <a:pPr algn="l">
              <a:spcAft>
                <a:spcPts val="600"/>
              </a:spcAft>
            </a:pPr>
            <a:r>
              <a:rPr sz="1700" b="1">
                <a:solidFill>
                  <a:srgbClr val="1B2437"/>
                </a:solidFill>
                <a:latin typeface="Malgun Gothic"/>
                <a:ea typeface="Malgun Gothic"/>
                <a:cs typeface="Malgun Gothic"/>
              </a:rPr>
              <a:t>설계안 (구현·측정하지 않음)</a:t>
            </a:r>
          </a:p>
          <a:p>
            <a:pPr algn="l"/>
            <a:r>
              <a:rPr sz="1400" b="0">
                <a:solidFill>
                  <a:srgbClr val="1B2437"/>
                </a:solidFill>
                <a:latin typeface="Malgun Gothic"/>
                <a:ea typeface="Malgun Gothic"/>
                <a:cs typeface="Malgun Gothic"/>
              </a:rPr>
              <a:t>Supervisor가 Agent를 고르고, Search Agent가 도구를 스스로 고르며, Verifier Agent는 판정만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